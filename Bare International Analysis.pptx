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sldIdLst>
    <p:sldId id="257" r:id="rId2"/>
    <p:sldId id="256" r:id="rId3"/>
    <p:sldId id="259" r:id="rId4"/>
    <p:sldId id="260" r:id="rId5"/>
    <p:sldId id="261" r:id="rId6"/>
    <p:sldId id="258" r:id="rId7"/>
    <p:sldId id="262" r:id="rId8"/>
    <p:sldId id="263" r:id="rId9"/>
    <p:sldId id="264" r:id="rId10"/>
    <p:sldId id="265" r:id="rId11"/>
    <p:sldId id="266" r:id="rId12"/>
    <p:sldId id="270" r:id="rId13"/>
    <p:sldId id="271" r:id="rId14"/>
    <p:sldId id="272" r:id="rId15"/>
    <p:sldId id="273" r:id="rId16"/>
    <p:sldId id="274" r:id="rId17"/>
    <p:sldId id="275" r:id="rId18"/>
    <p:sldId id="276" r:id="rId19"/>
    <p:sldId id="277" r:id="rId20"/>
    <p:sldId id="278" r:id="rId21"/>
    <p:sldId id="279"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A6D965F-01BB-4A79-8F48-BB6E1DFB7B36}">
          <p14:sldIdLst>
            <p14:sldId id="257"/>
            <p14:sldId id="256"/>
            <p14:sldId id="259"/>
            <p14:sldId id="260"/>
            <p14:sldId id="261"/>
            <p14:sldId id="258"/>
            <p14:sldId id="262"/>
            <p14:sldId id="263"/>
            <p14:sldId id="264"/>
            <p14:sldId id="265"/>
            <p14:sldId id="266"/>
            <p14:sldId id="270"/>
            <p14:sldId id="271"/>
            <p14:sldId id="272"/>
            <p14:sldId id="273"/>
            <p14:sldId id="274"/>
            <p14:sldId id="275"/>
            <p14:sldId id="276"/>
            <p14:sldId id="277"/>
            <p14:sldId id="278"/>
            <p14:sldId id="27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2921AC-021A-41B3-A0D5-32A004CC9223}" type="datetimeFigureOut">
              <a:rPr lang="en-US" smtClean="0"/>
              <a:t>2025-08-03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D462FA-3FB5-4B56-AA2E-E8554CE971D0}" type="slidenum">
              <a:rPr lang="en-US" smtClean="0"/>
              <a:t>‹#›</a:t>
            </a:fld>
            <a:endParaRPr lang="en-US"/>
          </a:p>
        </p:txBody>
      </p:sp>
    </p:spTree>
    <p:extLst>
      <p:ext uri="{BB962C8B-B14F-4D97-AF65-F5344CB8AC3E}">
        <p14:creationId xmlns:p14="http://schemas.microsoft.com/office/powerpoint/2010/main" val="1537390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2921AC-021A-41B3-A0D5-32A004CC9223}" type="datetimeFigureOut">
              <a:rPr lang="en-US" smtClean="0"/>
              <a:t>2025-08-03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D462FA-3FB5-4B56-AA2E-E8554CE971D0}" type="slidenum">
              <a:rPr lang="en-US" smtClean="0"/>
              <a:t>‹#›</a:t>
            </a:fld>
            <a:endParaRPr lang="en-US"/>
          </a:p>
        </p:txBody>
      </p:sp>
    </p:spTree>
    <p:extLst>
      <p:ext uri="{BB962C8B-B14F-4D97-AF65-F5344CB8AC3E}">
        <p14:creationId xmlns:p14="http://schemas.microsoft.com/office/powerpoint/2010/main" val="278450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2921AC-021A-41B3-A0D5-32A004CC9223}" type="datetimeFigureOut">
              <a:rPr lang="en-US" smtClean="0"/>
              <a:t>2025-08-03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D462FA-3FB5-4B56-AA2E-E8554CE971D0}" type="slidenum">
              <a:rPr lang="en-US" smtClean="0"/>
              <a:t>‹#›</a:t>
            </a:fld>
            <a:endParaRPr lang="en-US"/>
          </a:p>
        </p:txBody>
      </p:sp>
    </p:spTree>
    <p:extLst>
      <p:ext uri="{BB962C8B-B14F-4D97-AF65-F5344CB8AC3E}">
        <p14:creationId xmlns:p14="http://schemas.microsoft.com/office/powerpoint/2010/main" val="1874534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A2921AC-021A-41B3-A0D5-32A004CC9223}" type="datetimeFigureOut">
              <a:rPr lang="en-US" smtClean="0"/>
              <a:t>2025-08-03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D462FA-3FB5-4B56-AA2E-E8554CE971D0}" type="slidenum">
              <a:rPr lang="en-US" smtClean="0"/>
              <a:t>‹#›</a:t>
            </a:fld>
            <a:endParaRPr lang="en-US"/>
          </a:p>
        </p:txBody>
      </p:sp>
    </p:spTree>
    <p:extLst>
      <p:ext uri="{BB962C8B-B14F-4D97-AF65-F5344CB8AC3E}">
        <p14:creationId xmlns:p14="http://schemas.microsoft.com/office/powerpoint/2010/main" val="2638355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2921AC-021A-41B3-A0D5-32A004CC9223}" type="datetimeFigureOut">
              <a:rPr lang="en-US" smtClean="0"/>
              <a:t>2025-08-03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D462FA-3FB5-4B56-AA2E-E8554CE971D0}" type="slidenum">
              <a:rPr lang="en-US" smtClean="0"/>
              <a:t>‹#›</a:t>
            </a:fld>
            <a:endParaRPr lang="en-US"/>
          </a:p>
        </p:txBody>
      </p:sp>
    </p:spTree>
    <p:extLst>
      <p:ext uri="{BB962C8B-B14F-4D97-AF65-F5344CB8AC3E}">
        <p14:creationId xmlns:p14="http://schemas.microsoft.com/office/powerpoint/2010/main" val="655962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A2921AC-021A-41B3-A0D5-32A004CC9223}" type="datetimeFigureOut">
              <a:rPr lang="en-US" smtClean="0"/>
              <a:t>2025-08-03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D462FA-3FB5-4B56-AA2E-E8554CE971D0}" type="slidenum">
              <a:rPr lang="en-US" smtClean="0"/>
              <a:t>‹#›</a:t>
            </a:fld>
            <a:endParaRPr lang="en-US"/>
          </a:p>
        </p:txBody>
      </p:sp>
    </p:spTree>
    <p:extLst>
      <p:ext uri="{BB962C8B-B14F-4D97-AF65-F5344CB8AC3E}">
        <p14:creationId xmlns:p14="http://schemas.microsoft.com/office/powerpoint/2010/main" val="405707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2921AC-021A-41B3-A0D5-32A004CC9223}" type="datetimeFigureOut">
              <a:rPr lang="en-US" smtClean="0"/>
              <a:t>2025-08-03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D462FA-3FB5-4B56-AA2E-E8554CE971D0}" type="slidenum">
              <a:rPr lang="en-US" smtClean="0"/>
              <a:t>‹#›</a:t>
            </a:fld>
            <a:endParaRPr lang="en-US"/>
          </a:p>
        </p:txBody>
      </p:sp>
    </p:spTree>
    <p:extLst>
      <p:ext uri="{BB962C8B-B14F-4D97-AF65-F5344CB8AC3E}">
        <p14:creationId xmlns:p14="http://schemas.microsoft.com/office/powerpoint/2010/main" val="2026848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2921AC-021A-41B3-A0D5-32A004CC9223}" type="datetimeFigureOut">
              <a:rPr lang="en-US" smtClean="0"/>
              <a:t>2025-08-03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D462FA-3FB5-4B56-AA2E-E8554CE971D0}" type="slidenum">
              <a:rPr lang="en-US" smtClean="0"/>
              <a:t>‹#›</a:t>
            </a:fld>
            <a:endParaRPr lang="en-US"/>
          </a:p>
        </p:txBody>
      </p:sp>
    </p:spTree>
    <p:extLst>
      <p:ext uri="{BB962C8B-B14F-4D97-AF65-F5344CB8AC3E}">
        <p14:creationId xmlns:p14="http://schemas.microsoft.com/office/powerpoint/2010/main" val="482988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A2921AC-021A-41B3-A0D5-32A004CC9223}" type="datetimeFigureOut">
              <a:rPr lang="en-US" smtClean="0"/>
              <a:t>2025-08-03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D462FA-3FB5-4B56-AA2E-E8554CE971D0}" type="slidenum">
              <a:rPr lang="en-US" smtClean="0"/>
              <a:t>‹#›</a:t>
            </a:fld>
            <a:endParaRPr lang="en-US"/>
          </a:p>
        </p:txBody>
      </p:sp>
    </p:spTree>
    <p:extLst>
      <p:ext uri="{BB962C8B-B14F-4D97-AF65-F5344CB8AC3E}">
        <p14:creationId xmlns:p14="http://schemas.microsoft.com/office/powerpoint/2010/main" val="26353365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2921AC-021A-41B3-A0D5-32A004CC9223}" type="datetimeFigureOut">
              <a:rPr lang="en-US" smtClean="0"/>
              <a:t>2025-08-03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D462FA-3FB5-4B56-AA2E-E8554CE971D0}" type="slidenum">
              <a:rPr lang="en-US" smtClean="0"/>
              <a:t>‹#›</a:t>
            </a:fld>
            <a:endParaRPr lang="en-US"/>
          </a:p>
        </p:txBody>
      </p:sp>
    </p:spTree>
    <p:extLst>
      <p:ext uri="{BB962C8B-B14F-4D97-AF65-F5344CB8AC3E}">
        <p14:creationId xmlns:p14="http://schemas.microsoft.com/office/powerpoint/2010/main" val="2435989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2921AC-021A-41B3-A0D5-32A004CC9223}" type="datetimeFigureOut">
              <a:rPr lang="en-US" smtClean="0"/>
              <a:t>2025-08-03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D462FA-3FB5-4B56-AA2E-E8554CE971D0}"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6088567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2921AC-021A-41B3-A0D5-32A004CC9223}" type="datetimeFigureOut">
              <a:rPr lang="en-US" smtClean="0"/>
              <a:t>2025-08-03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D462FA-3FB5-4B56-AA2E-E8554CE971D0}" type="slidenum">
              <a:rPr lang="en-US" smtClean="0"/>
              <a:t>‹#›</a:t>
            </a:fld>
            <a:endParaRPr lang="en-US"/>
          </a:p>
        </p:txBody>
      </p:sp>
    </p:spTree>
    <p:extLst>
      <p:ext uri="{BB962C8B-B14F-4D97-AF65-F5344CB8AC3E}">
        <p14:creationId xmlns:p14="http://schemas.microsoft.com/office/powerpoint/2010/main" val="703991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2921AC-021A-41B3-A0D5-32A004CC9223}" type="datetimeFigureOut">
              <a:rPr lang="en-US" smtClean="0"/>
              <a:t>2025-08-03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D462FA-3FB5-4B56-AA2E-E8554CE971D0}"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66192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2921AC-021A-41B3-A0D5-32A004CC9223}" type="datetimeFigureOut">
              <a:rPr lang="en-US" smtClean="0"/>
              <a:t>2025-08-03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D462FA-3FB5-4B56-AA2E-E8554CE971D0}" type="slidenum">
              <a:rPr lang="en-US" smtClean="0"/>
              <a:t>‹#›</a:t>
            </a:fld>
            <a:endParaRPr lang="en-US"/>
          </a:p>
        </p:txBody>
      </p:sp>
    </p:spTree>
    <p:extLst>
      <p:ext uri="{BB962C8B-B14F-4D97-AF65-F5344CB8AC3E}">
        <p14:creationId xmlns:p14="http://schemas.microsoft.com/office/powerpoint/2010/main" val="42339968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2921AC-021A-41B3-A0D5-32A004CC9223}" type="datetimeFigureOut">
              <a:rPr lang="en-US" smtClean="0"/>
              <a:t>2025-08-03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D462FA-3FB5-4B56-AA2E-E8554CE971D0}" type="slidenum">
              <a:rPr lang="en-US" smtClean="0"/>
              <a:t>‹#›</a:t>
            </a:fld>
            <a:endParaRPr lang="en-US"/>
          </a:p>
        </p:txBody>
      </p:sp>
    </p:spTree>
    <p:extLst>
      <p:ext uri="{BB962C8B-B14F-4D97-AF65-F5344CB8AC3E}">
        <p14:creationId xmlns:p14="http://schemas.microsoft.com/office/powerpoint/2010/main" val="1832953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2921AC-021A-41B3-A0D5-32A004CC9223}" type="datetimeFigureOut">
              <a:rPr lang="en-US" smtClean="0"/>
              <a:t>2025-08-03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D462FA-3FB5-4B56-AA2E-E8554CE971D0}" type="slidenum">
              <a:rPr lang="en-US" smtClean="0"/>
              <a:t>‹#›</a:t>
            </a:fld>
            <a:endParaRPr lang="en-US"/>
          </a:p>
        </p:txBody>
      </p:sp>
    </p:spTree>
    <p:extLst>
      <p:ext uri="{BB962C8B-B14F-4D97-AF65-F5344CB8AC3E}">
        <p14:creationId xmlns:p14="http://schemas.microsoft.com/office/powerpoint/2010/main" val="427398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A2921AC-021A-41B3-A0D5-32A004CC9223}" type="datetimeFigureOut">
              <a:rPr lang="en-US" smtClean="0"/>
              <a:t>2025-08-03</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7D462FA-3FB5-4B56-AA2E-E8554CE971D0}" type="slidenum">
              <a:rPr lang="en-US" smtClean="0"/>
              <a:t>‹#›</a:t>
            </a:fld>
            <a:endParaRPr lang="en-US"/>
          </a:p>
        </p:txBody>
      </p:sp>
    </p:spTree>
    <p:extLst>
      <p:ext uri="{BB962C8B-B14F-4D97-AF65-F5344CB8AC3E}">
        <p14:creationId xmlns:p14="http://schemas.microsoft.com/office/powerpoint/2010/main" val="3139996997"/>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B0B9B4-0F52-BDDD-6BFE-262E333DCB37}"/>
              </a:ext>
            </a:extLst>
          </p:cNvPr>
          <p:cNvSpPr>
            <a:spLocks noGrp="1"/>
          </p:cNvSpPr>
          <p:nvPr>
            <p:ph type="ctrTitle"/>
          </p:nvPr>
        </p:nvSpPr>
        <p:spPr>
          <a:xfrm>
            <a:off x="1571515" y="1044300"/>
            <a:ext cx="8825658" cy="714587"/>
          </a:xfrm>
        </p:spPr>
        <p:txBody>
          <a:bodyPr/>
          <a:lstStyle/>
          <a:p>
            <a:pPr algn="ctr"/>
            <a:r>
              <a:rPr lang="en-US" sz="4400" b="1" dirty="0">
                <a:solidFill>
                  <a:schemeClr val="tx1"/>
                </a:solidFill>
                <a:latin typeface="Arial" panose="020B0604020202020204" pitchFamily="34" charset="0"/>
                <a:cs typeface="Arial" panose="020B0604020202020204" pitchFamily="34" charset="0"/>
              </a:rPr>
              <a:t>Bare International Analysis</a:t>
            </a:r>
            <a:endParaRPr lang="en-US" sz="4400" dirty="0">
              <a:solidFill>
                <a:schemeClr val="tx1"/>
              </a:solidFill>
            </a:endParaRPr>
          </a:p>
        </p:txBody>
      </p:sp>
      <p:sp>
        <p:nvSpPr>
          <p:cNvPr id="5" name="Subtitle 4">
            <a:extLst>
              <a:ext uri="{FF2B5EF4-FFF2-40B4-BE49-F238E27FC236}">
                <a16:creationId xmlns:a16="http://schemas.microsoft.com/office/drawing/2014/main" id="{AA3491EB-0A7E-5745-EA70-545A115BF0C8}"/>
              </a:ext>
            </a:extLst>
          </p:cNvPr>
          <p:cNvSpPr>
            <a:spLocks noGrp="1"/>
          </p:cNvSpPr>
          <p:nvPr>
            <p:ph type="subTitle" idx="1"/>
          </p:nvPr>
        </p:nvSpPr>
        <p:spPr>
          <a:xfrm>
            <a:off x="2455434" y="4777380"/>
            <a:ext cx="8913605" cy="861420"/>
          </a:xfrm>
        </p:spPr>
        <p:txBody>
          <a:bodyPr>
            <a:normAutofit/>
          </a:bodyPr>
          <a:lstStyle/>
          <a:p>
            <a:pPr algn="r"/>
            <a:r>
              <a:rPr lang="en-US" sz="2400" b="1" u="sng" cap="none" dirty="0">
                <a:solidFill>
                  <a:srgbClr val="00B050"/>
                </a:solidFill>
              </a:rPr>
              <a:t>By – </a:t>
            </a:r>
            <a:r>
              <a:rPr lang="en-US" sz="2400" b="1" u="sng" cap="none" dirty="0" err="1">
                <a:solidFill>
                  <a:srgbClr val="00B050"/>
                </a:solidFill>
              </a:rPr>
              <a:t>Bhagyalaxmi</a:t>
            </a:r>
            <a:r>
              <a:rPr lang="en-US" sz="2400" b="1" u="sng" cap="none" dirty="0">
                <a:solidFill>
                  <a:srgbClr val="00B050"/>
                </a:solidFill>
              </a:rPr>
              <a:t> Babu Nair</a:t>
            </a:r>
          </a:p>
        </p:txBody>
      </p:sp>
    </p:spTree>
    <p:extLst>
      <p:ext uri="{BB962C8B-B14F-4D97-AF65-F5344CB8AC3E}">
        <p14:creationId xmlns:p14="http://schemas.microsoft.com/office/powerpoint/2010/main" val="4096190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44718-7C66-2F47-2DA6-015541BFAC9E}"/>
              </a:ext>
            </a:extLst>
          </p:cNvPr>
          <p:cNvSpPr>
            <a:spLocks noGrp="1"/>
          </p:cNvSpPr>
          <p:nvPr>
            <p:ph type="ctrTitle"/>
          </p:nvPr>
        </p:nvSpPr>
        <p:spPr>
          <a:xfrm>
            <a:off x="924560" y="418741"/>
            <a:ext cx="10485119" cy="1361440"/>
          </a:xfrm>
        </p:spPr>
        <p:txBody>
          <a:bodyPr/>
          <a:lstStyle/>
          <a:p>
            <a:pPr algn="ctr"/>
            <a:r>
              <a:rPr lang="en-US" sz="4400" b="1" u="sng" dirty="0">
                <a:solidFill>
                  <a:schemeClr val="tx1"/>
                </a:solidFill>
                <a:latin typeface="Arial" panose="020B0604020202020204" pitchFamily="34" charset="0"/>
                <a:cs typeface="Arial" panose="020B0604020202020204" pitchFamily="34" charset="0"/>
              </a:rPr>
              <a:t>Evaluation of Style Advisor Performance</a:t>
            </a:r>
          </a:p>
        </p:txBody>
      </p:sp>
      <p:sp>
        <p:nvSpPr>
          <p:cNvPr id="3" name="Subtitle 2">
            <a:extLst>
              <a:ext uri="{FF2B5EF4-FFF2-40B4-BE49-F238E27FC236}">
                <a16:creationId xmlns:a16="http://schemas.microsoft.com/office/drawing/2014/main" id="{93B15973-C765-3979-32BB-168A34865449}"/>
              </a:ext>
            </a:extLst>
          </p:cNvPr>
          <p:cNvSpPr>
            <a:spLocks noGrp="1"/>
          </p:cNvSpPr>
          <p:nvPr>
            <p:ph type="subTitle" idx="1"/>
          </p:nvPr>
        </p:nvSpPr>
        <p:spPr>
          <a:xfrm>
            <a:off x="741680" y="2479040"/>
            <a:ext cx="10403839" cy="3484880"/>
          </a:xfrm>
        </p:spPr>
        <p:txBody>
          <a:bodyPr>
            <a:normAutofit/>
          </a:bodyPr>
          <a:lstStyle/>
          <a:p>
            <a:pPr algn="l"/>
            <a:r>
              <a:rPr lang="en-US" sz="2400" b="1" cap="none" dirty="0">
                <a:solidFill>
                  <a:schemeClr val="tx1"/>
                </a:solidFill>
                <a:latin typeface="Arial" panose="020B0604020202020204" pitchFamily="34" charset="0"/>
                <a:cs typeface="Arial" panose="020B0604020202020204" pitchFamily="34" charset="0"/>
              </a:rPr>
              <a:t>Comprehensive Analysis and Insights:</a:t>
            </a:r>
          </a:p>
          <a:p>
            <a:pPr algn="l"/>
            <a:r>
              <a:rPr lang="en-US" sz="2000" b="0" i="0" cap="none" dirty="0">
                <a:solidFill>
                  <a:srgbClr val="001D35"/>
                </a:solidFill>
                <a:effectLst/>
                <a:latin typeface="Google Sans"/>
              </a:rPr>
              <a:t>Evaluating the performance of a style advisor, whether human or ai-powered, involves assessing their effectiveness in providing personalized style recommendations and guidance. This can be done through various methods, including evaluating the quality and accuracy of their advice, the impact on customer satisfaction, and their ability to meet specific goals or objectives. For human advisors, performance reviews often include feedback on skills like communication, decision-making, and customer service. For ai-powered advisors, performance evaluation might focus on metrics like recommendation accuracy, user engagement, and the ability to adapt to user preferences. </a:t>
            </a:r>
            <a:endParaRPr lang="en-US" sz="2000" b="1" cap="none"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8944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037331-E5E1-6105-5ADD-77BBB079AD39}"/>
              </a:ext>
            </a:extLst>
          </p:cNvPr>
          <p:cNvSpPr txBox="1"/>
          <p:nvPr/>
        </p:nvSpPr>
        <p:spPr>
          <a:xfrm>
            <a:off x="650240" y="386080"/>
            <a:ext cx="11226800" cy="5447645"/>
          </a:xfrm>
          <a:prstGeom prst="rect">
            <a:avLst/>
          </a:prstGeom>
          <a:noFill/>
        </p:spPr>
        <p:txBody>
          <a:bodyPr wrap="square" rtlCol="0">
            <a:spAutoFit/>
          </a:bodyPr>
          <a:lstStyle/>
          <a:p>
            <a:r>
              <a:rPr lang="en-US" sz="2400" b="1" i="0" dirty="0">
                <a:solidFill>
                  <a:srgbClr val="001D35"/>
                </a:solidFill>
                <a:effectLst/>
                <a:latin typeface="Arial" panose="020B0604020202020204" pitchFamily="34" charset="0"/>
                <a:cs typeface="Arial" panose="020B0604020202020204" pitchFamily="34" charset="0"/>
              </a:rPr>
              <a:t>Insights:</a:t>
            </a:r>
          </a:p>
          <a:p>
            <a:r>
              <a:rPr lang="en-US" b="0" i="0" dirty="0">
                <a:solidFill>
                  <a:srgbClr val="001D35"/>
                </a:solidFill>
                <a:effectLst/>
                <a:latin typeface="Google Sans"/>
              </a:rPr>
              <a:t>To effectively evaluate the performance of a style advisor, focus on assessing their expertise, communication, customer service, and impact on sales and satisfaction. Key areas to evaluate include the advisor's knowledge of current trends, their ability to understand and address client needs, their communication clarity, and their effectiveness in driving sales and positive customer experiences. Furthermore, consider gathering feedback through surveys and analyzing sales data to gain a comprehensive understanding of their performance. </a:t>
            </a:r>
          </a:p>
          <a:p>
            <a:endParaRPr lang="en-US" dirty="0">
              <a:solidFill>
                <a:srgbClr val="001D35"/>
              </a:solidFill>
              <a:latin typeface="Google Sans"/>
            </a:endParaRPr>
          </a:p>
          <a:p>
            <a:pPr algn="l"/>
            <a:r>
              <a:rPr lang="en-US" b="0" i="0" dirty="0">
                <a:solidFill>
                  <a:srgbClr val="001D35"/>
                </a:solidFill>
                <a:effectLst/>
                <a:latin typeface="Google Sans"/>
              </a:rPr>
              <a:t>Here's a more detailed breakdown of insights for evaluating a style advisor's performance:</a:t>
            </a:r>
          </a:p>
          <a:p>
            <a:pPr algn="l"/>
            <a:r>
              <a:rPr lang="en-US" b="0" i="0" dirty="0">
                <a:solidFill>
                  <a:srgbClr val="001D35"/>
                </a:solidFill>
                <a:effectLst/>
                <a:latin typeface="Google Sans"/>
              </a:rPr>
              <a:t>1. Expertise and Knowledge:</a:t>
            </a:r>
          </a:p>
          <a:p>
            <a:pPr algn="l">
              <a:buFont typeface="Arial" panose="020B0604020202020204" pitchFamily="34" charset="0"/>
              <a:buChar char="•"/>
            </a:pPr>
            <a:r>
              <a:rPr lang="en-US" b="1" i="0" dirty="0">
                <a:solidFill>
                  <a:srgbClr val="001D35"/>
                </a:solidFill>
                <a:effectLst/>
                <a:latin typeface="Google Sans"/>
              </a:rPr>
              <a:t>Trend Analysis:</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Assess the advisor's knowledge of current fashion trends and their ability to translate those trends into relevant advice for clients.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Product Knowledge:</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Evaluate their understanding of the store's inventory, including fabrics, styles, and sizing, and their ability to recommend appropriate items.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Client Needs:</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Gauge their ability to understand and assess clients' individual styles, preferences, and body types to provide personalized recommendations. </a:t>
            </a:r>
            <a:endParaRPr lang="en-US" b="0" i="0" dirty="0">
              <a:solidFill>
                <a:srgbClr val="0B57D0"/>
              </a:solidFill>
              <a:effectLst/>
              <a:latin typeface="Google Sans"/>
            </a:endParaRPr>
          </a:p>
          <a:p>
            <a:endParaRPr lang="en-US" dirty="0"/>
          </a:p>
        </p:txBody>
      </p:sp>
    </p:spTree>
    <p:extLst>
      <p:ext uri="{BB962C8B-B14F-4D97-AF65-F5344CB8AC3E}">
        <p14:creationId xmlns:p14="http://schemas.microsoft.com/office/powerpoint/2010/main" val="2010332894"/>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6B745A-EF50-7CCC-AE85-361D09CA7CE3}"/>
              </a:ext>
            </a:extLst>
          </p:cNvPr>
          <p:cNvSpPr txBox="1"/>
          <p:nvPr/>
        </p:nvSpPr>
        <p:spPr>
          <a:xfrm>
            <a:off x="396240" y="254000"/>
            <a:ext cx="11633200" cy="6463308"/>
          </a:xfrm>
          <a:prstGeom prst="rect">
            <a:avLst/>
          </a:prstGeom>
          <a:noFill/>
        </p:spPr>
        <p:txBody>
          <a:bodyPr wrap="square" rtlCol="0">
            <a:spAutoFit/>
          </a:bodyPr>
          <a:lstStyle/>
          <a:p>
            <a:pPr algn="l"/>
            <a:r>
              <a:rPr lang="en-US" b="0" i="0" dirty="0">
                <a:solidFill>
                  <a:srgbClr val="001D35"/>
                </a:solidFill>
                <a:effectLst/>
                <a:latin typeface="Google Sans"/>
              </a:rPr>
              <a:t>2. Communication and Customer Service:</a:t>
            </a:r>
          </a:p>
          <a:p>
            <a:pPr algn="l">
              <a:buFont typeface="Arial" panose="020B0604020202020204" pitchFamily="34" charset="0"/>
              <a:buChar char="•"/>
            </a:pPr>
            <a:r>
              <a:rPr lang="en-US" b="1" i="0" dirty="0">
                <a:solidFill>
                  <a:srgbClr val="001D35"/>
                </a:solidFill>
                <a:effectLst/>
                <a:latin typeface="Google Sans"/>
              </a:rPr>
              <a:t>Clarity and Effectiveness:</a:t>
            </a:r>
            <a:endParaRPr lang="en-US" b="0" i="0" dirty="0">
              <a:solidFill>
                <a:srgbClr val="001D35"/>
              </a:solidFill>
              <a:effectLst/>
              <a:latin typeface="Google Sans"/>
            </a:endParaRPr>
          </a:p>
          <a:p>
            <a:pPr algn="l">
              <a:buFont typeface="Arial" panose="020B0604020202020204" pitchFamily="34" charset="0"/>
              <a:buChar char="•"/>
            </a:pPr>
            <a:r>
              <a:rPr lang="en-US" b="0" i="0" dirty="0">
                <a:solidFill>
                  <a:srgbClr val="545D7E"/>
                </a:solidFill>
                <a:effectLst/>
                <a:latin typeface="Google Sans"/>
              </a:rPr>
              <a:t>Evaluate how clearly and effectively the advisor communicates information about styles, trends, and product details.</a:t>
            </a:r>
          </a:p>
          <a:p>
            <a:pPr algn="l">
              <a:buFont typeface="Arial" panose="020B0604020202020204" pitchFamily="34" charset="0"/>
              <a:buChar char="•"/>
            </a:pPr>
            <a:r>
              <a:rPr lang="en-US" b="1" i="0" dirty="0">
                <a:solidFill>
                  <a:srgbClr val="001D35"/>
                </a:solidFill>
                <a:effectLst/>
                <a:latin typeface="Google Sans"/>
              </a:rPr>
              <a:t>Responsiveness and Timeliness:</a:t>
            </a:r>
            <a:endParaRPr lang="en-US" b="0" i="0" dirty="0">
              <a:solidFill>
                <a:srgbClr val="001D35"/>
              </a:solidFill>
              <a:effectLst/>
              <a:latin typeface="Google Sans"/>
            </a:endParaRPr>
          </a:p>
          <a:p>
            <a:pPr algn="l">
              <a:buFont typeface="Arial" panose="020B0604020202020204" pitchFamily="34" charset="0"/>
              <a:buChar char="•"/>
            </a:pPr>
            <a:r>
              <a:rPr lang="en-US" b="0" i="0" dirty="0">
                <a:solidFill>
                  <a:srgbClr val="545D7E"/>
                </a:solidFill>
                <a:effectLst/>
                <a:latin typeface="Google Sans"/>
              </a:rPr>
              <a:t>Assess how promptly and thoroughly the advisor responds to client inquiries and addresses concerns.</a:t>
            </a:r>
            <a:endParaRPr lang="en-US" b="1" dirty="0">
              <a:solidFill>
                <a:srgbClr val="001D35"/>
              </a:solidFill>
              <a:latin typeface="Google Sans"/>
            </a:endParaRPr>
          </a:p>
          <a:p>
            <a:pPr algn="l">
              <a:buFont typeface="Arial" panose="020B0604020202020204" pitchFamily="34" charset="0"/>
              <a:buChar char="•"/>
            </a:pPr>
            <a:r>
              <a:rPr lang="en-US" b="1" i="0" dirty="0">
                <a:solidFill>
                  <a:srgbClr val="001D35"/>
                </a:solidFill>
                <a:effectLst/>
                <a:latin typeface="Google Sans"/>
              </a:rPr>
              <a:t>Professionalism and Respect:</a:t>
            </a:r>
            <a:endParaRPr lang="en-US" b="0" i="0" dirty="0">
              <a:solidFill>
                <a:srgbClr val="001D35"/>
              </a:solidFill>
              <a:effectLst/>
              <a:latin typeface="Google Sans"/>
            </a:endParaRPr>
          </a:p>
          <a:p>
            <a:pPr algn="l">
              <a:buFont typeface="Arial" panose="020B0604020202020204" pitchFamily="34" charset="0"/>
              <a:buChar char="•"/>
            </a:pPr>
            <a:r>
              <a:rPr lang="en-US" b="0" i="0" dirty="0">
                <a:solidFill>
                  <a:srgbClr val="545D7E"/>
                </a:solidFill>
                <a:effectLst/>
                <a:latin typeface="Google Sans"/>
              </a:rPr>
              <a:t>Evaluate the advisor's ability to interact with clients in a professional and respectful manner, creating a positive and comfortable experience.</a:t>
            </a:r>
          </a:p>
          <a:p>
            <a:pPr algn="l">
              <a:buFont typeface="Arial" panose="020B0604020202020204" pitchFamily="34" charset="0"/>
              <a:buChar char="•"/>
            </a:pPr>
            <a:r>
              <a:rPr lang="en-US" b="1" i="0" dirty="0">
                <a:solidFill>
                  <a:srgbClr val="001D35"/>
                </a:solidFill>
                <a:effectLst/>
                <a:latin typeface="Google Sans"/>
              </a:rPr>
              <a:t>Active Listening:</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Determine if the advisor actively listens to clients' needs and preferences, demonstrating genuine interest in helping them find what they are looking for. </a:t>
            </a:r>
            <a:endParaRPr lang="en-US" b="0" i="0" dirty="0">
              <a:solidFill>
                <a:srgbClr val="0B57D0"/>
              </a:solidFill>
              <a:effectLst/>
              <a:latin typeface="Google Sans"/>
            </a:endParaRPr>
          </a:p>
          <a:p>
            <a:pPr algn="l"/>
            <a:r>
              <a:rPr lang="en-US" b="0" i="0" dirty="0">
                <a:solidFill>
                  <a:srgbClr val="001D35"/>
                </a:solidFill>
                <a:effectLst/>
                <a:latin typeface="Google Sans"/>
              </a:rPr>
              <a:t>3. Impact on Sales and Satisfaction:</a:t>
            </a:r>
          </a:p>
          <a:p>
            <a:pPr algn="l">
              <a:buFont typeface="Arial" panose="020B0604020202020204" pitchFamily="34" charset="0"/>
              <a:buChar char="•"/>
            </a:pPr>
            <a:r>
              <a:rPr lang="en-US" b="1" i="0" dirty="0">
                <a:solidFill>
                  <a:srgbClr val="001D35"/>
                </a:solidFill>
                <a:effectLst/>
                <a:latin typeface="Google Sans"/>
              </a:rPr>
              <a:t>Sales Performance:</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Analyze sales data to see if the advisor's recommendations lead to increased sales and conversions.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Customer Satisfaction:</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Gather feedback from clients through surveys or feedback forms to gauge their satisfaction with the advisor's service and recommendations.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Repeat Business:</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Track whether clients return to the advisor for future styling needs, indicating a positive experience and strong relationship.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Positive Referrals:</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Determine if clients recommend the advisor to others, a strong indicator of satisfaction and trust. </a:t>
            </a:r>
            <a:endParaRPr lang="en-US" b="0" i="0" dirty="0">
              <a:solidFill>
                <a:srgbClr val="0B57D0"/>
              </a:solidFill>
              <a:effectLst/>
              <a:latin typeface="Google Sans"/>
            </a:endParaRPr>
          </a:p>
          <a:p>
            <a:endParaRPr lang="en-US" dirty="0"/>
          </a:p>
        </p:txBody>
      </p:sp>
    </p:spTree>
    <p:extLst>
      <p:ext uri="{BB962C8B-B14F-4D97-AF65-F5344CB8AC3E}">
        <p14:creationId xmlns:p14="http://schemas.microsoft.com/office/powerpoint/2010/main" val="11934463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6B745A-EF50-7CCC-AE85-361D09CA7CE3}"/>
              </a:ext>
            </a:extLst>
          </p:cNvPr>
          <p:cNvSpPr txBox="1"/>
          <p:nvPr/>
        </p:nvSpPr>
        <p:spPr>
          <a:xfrm>
            <a:off x="396240" y="254000"/>
            <a:ext cx="11531600" cy="5909310"/>
          </a:xfrm>
          <a:prstGeom prst="rect">
            <a:avLst/>
          </a:prstGeom>
          <a:noFill/>
        </p:spPr>
        <p:txBody>
          <a:bodyPr wrap="square" rtlCol="0">
            <a:spAutoFit/>
          </a:bodyPr>
          <a:lstStyle/>
          <a:p>
            <a:pPr algn="l"/>
            <a:r>
              <a:rPr lang="en-US" b="0" i="0" dirty="0">
                <a:solidFill>
                  <a:srgbClr val="001D35"/>
                </a:solidFill>
                <a:effectLst/>
                <a:latin typeface="Google Sans"/>
              </a:rPr>
              <a:t>4. Additional Factors:</a:t>
            </a:r>
          </a:p>
          <a:p>
            <a:pPr algn="l">
              <a:buFont typeface="Arial" panose="020B0604020202020204" pitchFamily="34" charset="0"/>
              <a:buChar char="•"/>
            </a:pPr>
            <a:r>
              <a:rPr lang="en-US" b="1" i="0" dirty="0">
                <a:solidFill>
                  <a:srgbClr val="001D35"/>
                </a:solidFill>
                <a:effectLst/>
                <a:latin typeface="Google Sans"/>
              </a:rPr>
              <a:t>Adaptability:</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Assess the advisor's ability to adapt to different client personalities and preferences.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Problem-Solving:</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Evaluate their ability to handle challenging situations or customer complaints effectively.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Teamwork:</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Determine if the advisor collaborates effectively with other team members to create a positive shopping environment.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Continuous Improvement:</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Encourage the advisor to seek feedback and identify areas for improvement in their performance. </a:t>
            </a:r>
            <a:endParaRPr lang="en-US" b="0" i="0" dirty="0">
              <a:solidFill>
                <a:srgbClr val="0B57D0"/>
              </a:solidFill>
              <a:effectLst/>
              <a:latin typeface="Google Sans"/>
            </a:endParaRPr>
          </a:p>
          <a:p>
            <a:pPr algn="l"/>
            <a:r>
              <a:rPr lang="en-US" b="0" i="0" dirty="0">
                <a:solidFill>
                  <a:srgbClr val="001D35"/>
                </a:solidFill>
                <a:effectLst/>
                <a:latin typeface="Google Sans"/>
              </a:rPr>
              <a:t>Evaluation Methods:</a:t>
            </a:r>
          </a:p>
          <a:p>
            <a:pPr algn="l">
              <a:buFont typeface="Arial" panose="020B0604020202020204" pitchFamily="34" charset="0"/>
              <a:buChar char="•"/>
            </a:pPr>
            <a:r>
              <a:rPr lang="en-US" b="1" i="0" dirty="0">
                <a:solidFill>
                  <a:srgbClr val="001D35"/>
                </a:solidFill>
                <a:effectLst/>
                <a:latin typeface="Google Sans"/>
              </a:rPr>
              <a:t>Performance Reviews:</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Conduct regular performance reviews, using the above criteria to assess the advisor's strengths and weaknesses.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Customer Feedback:</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Collect feedback through surveys, online reviews, or in-person conversations.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Sales Data Analysis:</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Track sales figures and conversion rates to measure the advisor's impact on revenue.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Mystery Shopping:</a:t>
            </a:r>
            <a:endParaRPr lang="en-US" b="0" i="0" dirty="0">
              <a:solidFill>
                <a:srgbClr val="001D35"/>
              </a:solidFill>
              <a:effectLst/>
              <a:latin typeface="Google Sans"/>
            </a:endParaRPr>
          </a:p>
          <a:p>
            <a:pPr algn="l" fontAlgn="ctr">
              <a:buFont typeface="Arial" panose="020B0604020202020204" pitchFamily="34" charset="0"/>
              <a:buChar char="•"/>
            </a:pPr>
            <a:r>
              <a:rPr lang="en-US" b="0" i="0" dirty="0">
                <a:solidFill>
                  <a:srgbClr val="545D7E"/>
                </a:solidFill>
                <a:effectLst/>
                <a:latin typeface="Google Sans"/>
              </a:rPr>
              <a:t>Use mystery shoppers to assess the advisor's performance in a real-world shopping scenario. </a:t>
            </a:r>
            <a:endParaRPr lang="en-US" b="0" i="0" dirty="0">
              <a:solidFill>
                <a:srgbClr val="0B57D0"/>
              </a:solidFill>
              <a:effectLst/>
              <a:latin typeface="Google Sans"/>
            </a:endParaRPr>
          </a:p>
          <a:p>
            <a:pPr algn="l"/>
            <a:r>
              <a:rPr lang="en-US" b="0" i="0" dirty="0">
                <a:solidFill>
                  <a:srgbClr val="001D35"/>
                </a:solidFill>
                <a:effectLst/>
                <a:latin typeface="Google Sans"/>
              </a:rPr>
              <a:t>By focusing on these areas and utilizing a variety of evaluation methods, you can gain a comprehensive understanding of a style advisor's performance and identify areas for development and growth. </a:t>
            </a:r>
          </a:p>
          <a:p>
            <a:endParaRPr lang="en-US" dirty="0"/>
          </a:p>
        </p:txBody>
      </p:sp>
    </p:spTree>
    <p:extLst>
      <p:ext uri="{BB962C8B-B14F-4D97-AF65-F5344CB8AC3E}">
        <p14:creationId xmlns:p14="http://schemas.microsoft.com/office/powerpoint/2010/main" val="696799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44718-7C66-2F47-2DA6-015541BFAC9E}"/>
              </a:ext>
            </a:extLst>
          </p:cNvPr>
          <p:cNvSpPr>
            <a:spLocks noGrp="1"/>
          </p:cNvSpPr>
          <p:nvPr>
            <p:ph type="ctrTitle"/>
          </p:nvPr>
        </p:nvSpPr>
        <p:spPr>
          <a:xfrm>
            <a:off x="965200" y="357781"/>
            <a:ext cx="10485119" cy="719179"/>
          </a:xfrm>
        </p:spPr>
        <p:txBody>
          <a:bodyPr/>
          <a:lstStyle/>
          <a:p>
            <a:pPr algn="ctr"/>
            <a:r>
              <a:rPr lang="en-US" sz="4000" b="1" u="sng" dirty="0">
                <a:solidFill>
                  <a:schemeClr val="tx1"/>
                </a:solidFill>
                <a:latin typeface="Arial" panose="020B0604020202020204" pitchFamily="34" charset="0"/>
                <a:cs typeface="Arial" panose="020B0604020202020204" pitchFamily="34" charset="0"/>
              </a:rPr>
              <a:t>Introduction &amp; Objectives </a:t>
            </a:r>
          </a:p>
        </p:txBody>
      </p:sp>
      <p:sp>
        <p:nvSpPr>
          <p:cNvPr id="3" name="Subtitle 2">
            <a:extLst>
              <a:ext uri="{FF2B5EF4-FFF2-40B4-BE49-F238E27FC236}">
                <a16:creationId xmlns:a16="http://schemas.microsoft.com/office/drawing/2014/main" id="{93B15973-C765-3979-32BB-168A34865449}"/>
              </a:ext>
            </a:extLst>
          </p:cNvPr>
          <p:cNvSpPr>
            <a:spLocks noGrp="1"/>
          </p:cNvSpPr>
          <p:nvPr>
            <p:ph type="subTitle" idx="1"/>
          </p:nvPr>
        </p:nvSpPr>
        <p:spPr>
          <a:xfrm>
            <a:off x="894080" y="1257658"/>
            <a:ext cx="10403839" cy="5242561"/>
          </a:xfrm>
        </p:spPr>
        <p:txBody>
          <a:bodyPr>
            <a:noAutofit/>
          </a:bodyPr>
          <a:lstStyle/>
          <a:p>
            <a:pPr algn="l" fontAlgn="ctr"/>
            <a:r>
              <a:rPr lang="en-US" sz="1600" b="1" i="0" u="sng" dirty="0">
                <a:solidFill>
                  <a:srgbClr val="001D35"/>
                </a:solidFill>
                <a:effectLst/>
                <a:latin typeface="Arial" panose="020B0604020202020204" pitchFamily="34" charset="0"/>
                <a:cs typeface="Arial" panose="020B0604020202020204" pitchFamily="34" charset="0"/>
              </a:rPr>
              <a:t>Introduction:</a:t>
            </a:r>
            <a:endParaRPr lang="en-US" sz="1600" b="1" i="0" u="sng" dirty="0">
              <a:solidFill>
                <a:srgbClr val="0B57D0"/>
              </a:solidFill>
              <a:effectLst/>
              <a:latin typeface="Arial" panose="020B0604020202020204" pitchFamily="34" charset="0"/>
              <a:cs typeface="Arial" panose="020B0604020202020204" pitchFamily="34" charset="0"/>
            </a:endParaRPr>
          </a:p>
          <a:p>
            <a:pPr algn="l" fontAlgn="ctr"/>
            <a:r>
              <a:rPr lang="en-US" sz="1600" b="0" i="0" dirty="0">
                <a:solidFill>
                  <a:srgbClr val="001D35"/>
                </a:solidFill>
                <a:effectLst/>
                <a:latin typeface="Arial" panose="020B0604020202020204" pitchFamily="34" charset="0"/>
                <a:cs typeface="Arial" panose="020B0604020202020204" pitchFamily="34" charset="0"/>
              </a:rPr>
              <a:t>Style advisors play a crucial role in the fashion and retail industry, acting as the bridge between the customer and the product. Their ability to understand customer preferences, provide personalized recommendations, and create a positive shopping experience directly impacts sales, customer satisfaction, and brand loyalty. Therefore, a robust performance evaluation system is essential for ensuring that style advisors are effectively contributing to the business goals. This project aims to establish such a system, providing a framework for assessing their strengths, identifying areas for improvement, and ultimately, driving their professional development. </a:t>
            </a:r>
            <a:endParaRPr lang="en-US" sz="1600" b="0" i="0" dirty="0">
              <a:solidFill>
                <a:srgbClr val="0B57D0"/>
              </a:solidFill>
              <a:effectLst/>
              <a:latin typeface="Arial" panose="020B0604020202020204" pitchFamily="34" charset="0"/>
              <a:cs typeface="Arial" panose="020B0604020202020204" pitchFamily="34" charset="0"/>
            </a:endParaRPr>
          </a:p>
          <a:p>
            <a:pPr algn="l"/>
            <a:r>
              <a:rPr lang="en-US" sz="1600" b="1" i="0" u="sng" dirty="0">
                <a:solidFill>
                  <a:srgbClr val="001D35"/>
                </a:solidFill>
                <a:effectLst/>
                <a:latin typeface="Arial" panose="020B0604020202020204" pitchFamily="34" charset="0"/>
                <a:cs typeface="Arial" panose="020B0604020202020204" pitchFamily="34" charset="0"/>
              </a:rPr>
              <a:t>Objectives:</a:t>
            </a:r>
          </a:p>
          <a:p>
            <a:pPr algn="l"/>
            <a:r>
              <a:rPr lang="en-US" sz="1600" b="0" i="0" dirty="0">
                <a:solidFill>
                  <a:srgbClr val="001D35"/>
                </a:solidFill>
                <a:effectLst/>
                <a:latin typeface="Arial" panose="020B0604020202020204" pitchFamily="34" charset="0"/>
                <a:cs typeface="Arial" panose="020B0604020202020204" pitchFamily="34" charset="0"/>
              </a:rPr>
              <a:t>The project's objectives are:</a:t>
            </a:r>
          </a:p>
          <a:p>
            <a:pPr algn="l">
              <a:buClr>
                <a:schemeClr val="tx1"/>
              </a:buClr>
              <a:buFont typeface="Arial" panose="020B0604020202020204" pitchFamily="34" charset="0"/>
              <a:buChar char="•"/>
            </a:pPr>
            <a:r>
              <a:rPr lang="en-US" sz="1600" i="0" dirty="0">
                <a:solidFill>
                  <a:schemeClr val="tx1"/>
                </a:solidFill>
                <a:effectLst/>
                <a:latin typeface="Arial" panose="020B0604020202020204" pitchFamily="34" charset="0"/>
                <a:cs typeface="Arial" panose="020B0604020202020204" pitchFamily="34" charset="0"/>
              </a:rPr>
              <a:t> </a:t>
            </a:r>
            <a:r>
              <a:rPr lang="en-US" sz="1600" i="0" dirty="0">
                <a:solidFill>
                  <a:srgbClr val="001D35"/>
                </a:solidFill>
                <a:effectLst/>
                <a:latin typeface="Arial" panose="020B0604020202020204" pitchFamily="34" charset="0"/>
                <a:cs typeface="Arial" panose="020B0604020202020204" pitchFamily="34" charset="0"/>
              </a:rPr>
              <a:t>Define Key Performance Indicators (KPIs)</a:t>
            </a:r>
          </a:p>
          <a:p>
            <a:pPr algn="l">
              <a:buClr>
                <a:schemeClr val="tx1"/>
              </a:buClr>
              <a:buFont typeface="Arial" panose="020B0604020202020204" pitchFamily="34" charset="0"/>
              <a:buChar char="•"/>
            </a:pPr>
            <a:r>
              <a:rPr lang="en-US" sz="1600" dirty="0">
                <a:solidFill>
                  <a:srgbClr val="001D35"/>
                </a:solidFill>
                <a:latin typeface="Arial" panose="020B0604020202020204" pitchFamily="34" charset="0"/>
                <a:cs typeface="Arial" panose="020B0604020202020204" pitchFamily="34" charset="0"/>
              </a:rPr>
              <a:t> </a:t>
            </a:r>
            <a:r>
              <a:rPr lang="en-US" sz="1600" i="0" dirty="0">
                <a:solidFill>
                  <a:srgbClr val="001D35"/>
                </a:solidFill>
                <a:effectLst/>
                <a:latin typeface="Arial" panose="020B0604020202020204" pitchFamily="34" charset="0"/>
                <a:cs typeface="Arial" panose="020B0604020202020204" pitchFamily="34" charset="0"/>
              </a:rPr>
              <a:t>Develop an Evaluation Framework</a:t>
            </a:r>
          </a:p>
          <a:p>
            <a:pPr algn="l">
              <a:buClr>
                <a:schemeClr val="tx1"/>
              </a:buClr>
              <a:buFont typeface="Arial" panose="020B0604020202020204" pitchFamily="34" charset="0"/>
              <a:buChar char="•"/>
            </a:pPr>
            <a:r>
              <a:rPr lang="en-US" sz="1600" cap="none" dirty="0">
                <a:solidFill>
                  <a:srgbClr val="001D35"/>
                </a:solidFill>
                <a:latin typeface="Arial" panose="020B0604020202020204" pitchFamily="34" charset="0"/>
                <a:cs typeface="Arial" panose="020B0604020202020204" pitchFamily="34" charset="0"/>
              </a:rPr>
              <a:t> </a:t>
            </a:r>
            <a:r>
              <a:rPr lang="en-US" sz="1600" i="0" dirty="0">
                <a:solidFill>
                  <a:srgbClr val="001D35"/>
                </a:solidFill>
                <a:effectLst/>
                <a:latin typeface="Arial" panose="020B0604020202020204" pitchFamily="34" charset="0"/>
                <a:cs typeface="Arial" panose="020B0604020202020204" pitchFamily="34" charset="0"/>
              </a:rPr>
              <a:t>Implement the Evaluation System</a:t>
            </a:r>
            <a:endParaRPr lang="en-US" sz="1600" i="0" dirty="0">
              <a:solidFill>
                <a:srgbClr val="001D35"/>
              </a:solidFill>
              <a:latin typeface="Arial" panose="020B0604020202020204" pitchFamily="34" charset="0"/>
              <a:cs typeface="Arial" panose="020B0604020202020204" pitchFamily="34" charset="0"/>
            </a:endParaRPr>
          </a:p>
          <a:p>
            <a:pPr algn="l">
              <a:buClr>
                <a:schemeClr val="tx1"/>
              </a:buClr>
              <a:buFont typeface="Arial" panose="020B0604020202020204" pitchFamily="34" charset="0"/>
              <a:buChar char="•"/>
            </a:pPr>
            <a:r>
              <a:rPr lang="en-US" sz="1600" b="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 Provide Feedback and Development</a:t>
            </a:r>
            <a:endParaRPr lang="en-US" sz="1600" dirty="0">
              <a:latin typeface="Arial" panose="020B0604020202020204" pitchFamily="34" charset="0"/>
              <a:ea typeface="Times New Roman" panose="02020603050405020304" pitchFamily="18" charset="0"/>
              <a:cs typeface="Arial" panose="020B0604020202020204" pitchFamily="34" charset="0"/>
            </a:endParaRPr>
          </a:p>
          <a:p>
            <a:pPr algn="l">
              <a:buClr>
                <a:schemeClr val="tx1"/>
              </a:buClr>
              <a:buFont typeface="Arial" panose="020B0604020202020204" pitchFamily="34" charset="0"/>
              <a:buChar char="•"/>
            </a:pPr>
            <a:r>
              <a:rPr lang="en-US" sz="1600" b="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 Analyze and Improv </a:t>
            </a:r>
          </a:p>
          <a:p>
            <a:pPr algn="l">
              <a:buClr>
                <a:schemeClr val="tx1"/>
              </a:buClr>
              <a:buFont typeface="Arial" panose="020B0604020202020204" pitchFamily="34" charset="0"/>
              <a:buChar char="•"/>
            </a:pPr>
            <a:r>
              <a:rPr lang="en-US" sz="1600" b="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 Ensure Fairness and Transparency </a:t>
            </a:r>
          </a:p>
          <a:p>
            <a:pPr algn="l">
              <a:buClr>
                <a:schemeClr val="tx1"/>
              </a:buClr>
              <a:buFont typeface="Arial" panose="020B0604020202020204" pitchFamily="34" charset="0"/>
              <a:buChar char="•"/>
            </a:pPr>
            <a:r>
              <a:rPr lang="en-US" sz="1600" b="0" dirty="0">
                <a:solidFill>
                  <a:srgbClr val="001D35"/>
                </a:solidFill>
                <a:effectLst/>
                <a:latin typeface="Arial" panose="020B0604020202020204" pitchFamily="34" charset="0"/>
                <a:ea typeface="Times New Roman" panose="02020603050405020304" pitchFamily="18" charset="0"/>
                <a:cs typeface="Arial" panose="020B0604020202020204" pitchFamily="34" charset="0"/>
              </a:rPr>
              <a:t> Drive Business Results </a:t>
            </a:r>
            <a:endParaRPr lang="en-US" sz="1600" cap="none"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394247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A7BB2D-72A5-6886-5289-2471F05B31F8}"/>
              </a:ext>
            </a:extLst>
          </p:cNvPr>
          <p:cNvSpPr txBox="1"/>
          <p:nvPr/>
        </p:nvSpPr>
        <p:spPr>
          <a:xfrm>
            <a:off x="467360" y="314960"/>
            <a:ext cx="11389360" cy="2862322"/>
          </a:xfrm>
          <a:prstGeom prst="rect">
            <a:avLst/>
          </a:prstGeom>
          <a:noFill/>
        </p:spPr>
        <p:txBody>
          <a:bodyPr wrap="square" rtlCol="0">
            <a:spAutoFit/>
          </a:bodyPr>
          <a:lstStyle/>
          <a:p>
            <a:r>
              <a:rPr lang="en-US" sz="2000" b="1" u="sng" dirty="0">
                <a:latin typeface="Arial" panose="020B0604020202020204" pitchFamily="34" charset="0"/>
                <a:cs typeface="Arial" panose="020B0604020202020204" pitchFamily="34" charset="0"/>
              </a:rPr>
              <a:t>Objectives of the analysis: </a:t>
            </a:r>
          </a:p>
          <a:p>
            <a:endParaRPr lang="en-US" sz="2000" dirty="0">
              <a:latin typeface="Arial" panose="020B0604020202020204" pitchFamily="34" charset="0"/>
              <a:cs typeface="Arial" panose="020B0604020202020204" pitchFamily="34" charset="0"/>
            </a:endParaRPr>
          </a:p>
          <a:p>
            <a:pPr marL="342900" indent="-342900">
              <a:buAutoNum type="arabicParenR"/>
            </a:pPr>
            <a:r>
              <a:rPr lang="en-US" sz="2000" b="1" dirty="0">
                <a:latin typeface="Arial" panose="020B0604020202020204" pitchFamily="34" charset="0"/>
                <a:cs typeface="Arial" panose="020B0604020202020204" pitchFamily="34" charset="0"/>
              </a:rPr>
              <a:t>Performance Grading: </a:t>
            </a:r>
            <a:r>
              <a:rPr lang="en-US" sz="2000" dirty="0">
                <a:latin typeface="Arial" panose="020B0604020202020204" pitchFamily="34" charset="0"/>
                <a:cs typeface="Arial" panose="020B0604020202020204" pitchFamily="34" charset="0"/>
              </a:rPr>
              <a:t>Assign grades to each Style Advisor based on their </a:t>
            </a:r>
            <a:r>
              <a:rPr lang="en-US" sz="2000" dirty="0" err="1">
                <a:latin typeface="Arial" panose="020B0604020202020204" pitchFamily="34" charset="0"/>
                <a:cs typeface="Arial" panose="020B0604020202020204" pitchFamily="34" charset="0"/>
              </a:rPr>
              <a:t>Evaluation_Score</a:t>
            </a:r>
            <a:r>
              <a:rPr lang="en-US" sz="2000" dirty="0">
                <a:latin typeface="Arial" panose="020B0604020202020204" pitchFamily="34" charset="0"/>
                <a:cs typeface="Arial" panose="020B0604020202020204" pitchFamily="34" charset="0"/>
              </a:rPr>
              <a:t>. </a:t>
            </a:r>
          </a:p>
          <a:p>
            <a:pPr marL="342900" indent="-342900">
              <a:buAutoNum type="arabicParenR"/>
            </a:pPr>
            <a:r>
              <a:rPr lang="en-US" sz="2000" b="1" dirty="0">
                <a:latin typeface="Arial" panose="020B0604020202020204" pitchFamily="34" charset="0"/>
                <a:cs typeface="Arial" panose="020B0604020202020204" pitchFamily="34" charset="0"/>
              </a:rPr>
              <a:t>Pivot Table Analysis: </a:t>
            </a:r>
            <a:r>
              <a:rPr lang="en-US" sz="2000" dirty="0">
                <a:latin typeface="Arial" panose="020B0604020202020204" pitchFamily="34" charset="0"/>
                <a:cs typeface="Arial" panose="020B0604020202020204" pitchFamily="34" charset="0"/>
              </a:rPr>
              <a:t>Analyze average evaluation scores by zone to understand regional performance. </a:t>
            </a:r>
          </a:p>
          <a:p>
            <a:pPr marL="342900" indent="-342900">
              <a:buAutoNum type="arabicParenR"/>
            </a:pPr>
            <a:r>
              <a:rPr lang="en-US" sz="2000" b="1" dirty="0">
                <a:latin typeface="Arial" panose="020B0604020202020204" pitchFamily="34" charset="0"/>
                <a:cs typeface="Arial" panose="020B0604020202020204" pitchFamily="34" charset="0"/>
              </a:rPr>
              <a:t>High Performer Identification: </a:t>
            </a:r>
            <a:r>
              <a:rPr lang="en-US" sz="2000" dirty="0">
                <a:latin typeface="Arial" panose="020B0604020202020204" pitchFamily="34" charset="0"/>
                <a:cs typeface="Arial" panose="020B0604020202020204" pitchFamily="34" charset="0"/>
              </a:rPr>
              <a:t>Determine which region has the highest percentage of high performers.</a:t>
            </a:r>
          </a:p>
          <a:p>
            <a:pPr marL="342900" indent="-342900">
              <a:buAutoNum type="arabicParenR"/>
            </a:pPr>
            <a:r>
              <a:rPr lang="en-US" sz="2000" b="1" dirty="0">
                <a:latin typeface="Arial" panose="020B0604020202020204" pitchFamily="34" charset="0"/>
                <a:cs typeface="Arial" panose="020B0604020202020204" pitchFamily="34" charset="0"/>
              </a:rPr>
              <a:t>Visualization: </a:t>
            </a:r>
            <a:r>
              <a:rPr lang="en-US" sz="2000" dirty="0">
                <a:latin typeface="Arial" panose="020B0604020202020204" pitchFamily="34" charset="0"/>
                <a:cs typeface="Arial" panose="020B0604020202020204" pitchFamily="34" charset="0"/>
              </a:rPr>
              <a:t>Create visual representations of the data to highlight key trends and insights. </a:t>
            </a:r>
          </a:p>
          <a:p>
            <a:pPr marL="342900" indent="-342900">
              <a:buAutoNum type="arabicParenR"/>
            </a:pPr>
            <a:r>
              <a:rPr lang="en-US" sz="2000" b="1" dirty="0">
                <a:latin typeface="Arial" panose="020B0604020202020204" pitchFamily="34" charset="0"/>
                <a:cs typeface="Arial" panose="020B0604020202020204" pitchFamily="34" charset="0"/>
              </a:rPr>
              <a:t>Presentation Report: </a:t>
            </a:r>
            <a:r>
              <a:rPr lang="en-US" sz="2000" dirty="0">
                <a:latin typeface="Arial" panose="020B0604020202020204" pitchFamily="34" charset="0"/>
                <a:cs typeface="Arial" panose="020B0604020202020204" pitchFamily="34" charset="0"/>
              </a:rPr>
              <a:t>Summarize findings and provide recommendations for management. </a:t>
            </a:r>
          </a:p>
        </p:txBody>
      </p:sp>
    </p:spTree>
    <p:extLst>
      <p:ext uri="{BB962C8B-B14F-4D97-AF65-F5344CB8AC3E}">
        <p14:creationId xmlns:p14="http://schemas.microsoft.com/office/powerpoint/2010/main" val="3957985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715F0-A284-C97F-E37D-1C2C5671914E}"/>
              </a:ext>
            </a:extLst>
          </p:cNvPr>
          <p:cNvSpPr>
            <a:spLocks noGrp="1"/>
          </p:cNvSpPr>
          <p:nvPr>
            <p:ph type="ctrTitle"/>
          </p:nvPr>
        </p:nvSpPr>
        <p:spPr>
          <a:xfrm>
            <a:off x="1507067" y="223520"/>
            <a:ext cx="10014373" cy="690880"/>
          </a:xfrm>
        </p:spPr>
        <p:txBody>
          <a:bodyPr/>
          <a:lstStyle/>
          <a:p>
            <a:pPr algn="ctr"/>
            <a:r>
              <a:rPr lang="en-US" sz="4800" b="1" u="sng" dirty="0">
                <a:solidFill>
                  <a:schemeClr val="tx1"/>
                </a:solidFill>
                <a:latin typeface="Arial" panose="020B0604020202020204" pitchFamily="34" charset="0"/>
                <a:cs typeface="Arial" panose="020B0604020202020204" pitchFamily="34" charset="0"/>
              </a:rPr>
              <a:t>Data Overview </a:t>
            </a:r>
          </a:p>
        </p:txBody>
      </p:sp>
      <p:sp>
        <p:nvSpPr>
          <p:cNvPr id="3" name="Subtitle 2">
            <a:extLst>
              <a:ext uri="{FF2B5EF4-FFF2-40B4-BE49-F238E27FC236}">
                <a16:creationId xmlns:a16="http://schemas.microsoft.com/office/drawing/2014/main" id="{2D984C57-8134-806A-9721-2044997A7A03}"/>
              </a:ext>
            </a:extLst>
          </p:cNvPr>
          <p:cNvSpPr>
            <a:spLocks noGrp="1"/>
          </p:cNvSpPr>
          <p:nvPr>
            <p:ph type="subTitle" idx="1"/>
          </p:nvPr>
        </p:nvSpPr>
        <p:spPr>
          <a:xfrm>
            <a:off x="487680" y="1188720"/>
            <a:ext cx="11287759" cy="5273039"/>
          </a:xfrm>
        </p:spPr>
        <p:txBody>
          <a:bodyPr>
            <a:normAutofit lnSpcReduction="10000"/>
          </a:bodyPr>
          <a:lstStyle/>
          <a:p>
            <a:pPr algn="l"/>
            <a:r>
              <a:rPr lang="en-US" sz="2000" b="1" u="sng" dirty="0">
                <a:solidFill>
                  <a:schemeClr val="tx1"/>
                </a:solidFill>
                <a:latin typeface="Arial" panose="020B0604020202020204" pitchFamily="34" charset="0"/>
                <a:cs typeface="Arial" panose="020B0604020202020204" pitchFamily="34" charset="0"/>
              </a:rPr>
              <a:t>Data Columns Explanation:</a:t>
            </a:r>
          </a:p>
          <a:p>
            <a:pPr marL="342900" indent="-342900" algn="l">
              <a:buClr>
                <a:schemeClr val="tx1"/>
              </a:buClr>
              <a:buAutoNum type="arabicParenR"/>
            </a:pPr>
            <a:r>
              <a:rPr lang="en-US" dirty="0" err="1">
                <a:solidFill>
                  <a:schemeClr val="tx1"/>
                </a:solidFill>
                <a:latin typeface="Arial" panose="020B0604020202020204" pitchFamily="34" charset="0"/>
                <a:cs typeface="Arial" panose="020B0604020202020204" pitchFamily="34" charset="0"/>
              </a:rPr>
              <a:t>Evaluation_ID</a:t>
            </a:r>
            <a:r>
              <a:rPr lang="en-US" dirty="0">
                <a:solidFill>
                  <a:schemeClr val="tx1"/>
                </a:solidFill>
                <a:latin typeface="Arial" panose="020B0604020202020204" pitchFamily="34" charset="0"/>
                <a:cs typeface="Arial" panose="020B0604020202020204" pitchFamily="34" charset="0"/>
              </a:rPr>
              <a:t>: Unique identifier for each evaluation record. </a:t>
            </a:r>
          </a:p>
          <a:p>
            <a:pPr marL="342900" indent="-342900" algn="l">
              <a:buClr>
                <a:schemeClr val="tx1"/>
              </a:buClr>
              <a:buAutoNum type="arabicParenR"/>
            </a:pPr>
            <a:r>
              <a:rPr lang="en-US" dirty="0" err="1">
                <a:solidFill>
                  <a:schemeClr val="tx1"/>
                </a:solidFill>
                <a:latin typeface="Arial" panose="020B0604020202020204" pitchFamily="34" charset="0"/>
                <a:cs typeface="Arial" panose="020B0604020202020204" pitchFamily="34" charset="0"/>
              </a:rPr>
              <a:t>Evaluation_Date</a:t>
            </a:r>
            <a:r>
              <a:rPr lang="en-US" dirty="0">
                <a:solidFill>
                  <a:schemeClr val="tx1"/>
                </a:solidFill>
                <a:latin typeface="Arial" panose="020B0604020202020204" pitchFamily="34" charset="0"/>
                <a:cs typeface="Arial" panose="020B0604020202020204" pitchFamily="34" charset="0"/>
              </a:rPr>
              <a:t>: Date when the evaluation was conducted.</a:t>
            </a:r>
          </a:p>
          <a:p>
            <a:pPr marL="342900" indent="-342900" algn="l">
              <a:buClr>
                <a:schemeClr val="tx1"/>
              </a:buClr>
              <a:buAutoNum type="arabicParenR"/>
            </a:pPr>
            <a:r>
              <a:rPr lang="en-US" dirty="0" err="1">
                <a:solidFill>
                  <a:schemeClr val="tx1"/>
                </a:solidFill>
                <a:latin typeface="Arial" panose="020B0604020202020204" pitchFamily="34" charset="0"/>
                <a:cs typeface="Arial" panose="020B0604020202020204" pitchFamily="34" charset="0"/>
              </a:rPr>
              <a:t>Evaluation_Score</a:t>
            </a:r>
            <a:r>
              <a:rPr lang="en-US" dirty="0">
                <a:solidFill>
                  <a:schemeClr val="tx1"/>
                </a:solidFill>
                <a:latin typeface="Arial" panose="020B0604020202020204" pitchFamily="34" charset="0"/>
                <a:cs typeface="Arial" panose="020B0604020202020204" pitchFamily="34" charset="0"/>
              </a:rPr>
              <a:t>: Score given for the evaluation.</a:t>
            </a:r>
          </a:p>
          <a:p>
            <a:pPr marL="342900" indent="-342900" algn="l">
              <a:buClr>
                <a:schemeClr val="tx1"/>
              </a:buClr>
              <a:buAutoNum type="arabicParenR"/>
            </a:pPr>
            <a:r>
              <a:rPr lang="en-US" dirty="0">
                <a:solidFill>
                  <a:schemeClr val="tx1"/>
                </a:solidFill>
                <a:latin typeface="Arial" panose="020B0604020202020204" pitchFamily="34" charset="0"/>
                <a:cs typeface="Arial" panose="020B0604020202020204" pitchFamily="34" charset="0"/>
              </a:rPr>
              <a:t>STORE AMBIANCE, FIRST IMPRESSIONS, DISCOVERY, etc.: Various criteria used to assess the performance of Style Advisors.</a:t>
            </a:r>
          </a:p>
          <a:p>
            <a:pPr marL="342900" indent="-342900" algn="l">
              <a:buClr>
                <a:schemeClr val="tx1"/>
              </a:buClr>
              <a:buAutoNum type="arabicParenR"/>
            </a:pPr>
            <a:r>
              <a:rPr lang="en-US" dirty="0" err="1">
                <a:solidFill>
                  <a:schemeClr val="tx1"/>
                </a:solidFill>
                <a:latin typeface="Arial" panose="020B0604020202020204" pitchFamily="34" charset="0"/>
                <a:cs typeface="Arial" panose="020B0604020202020204" pitchFamily="34" charset="0"/>
              </a:rPr>
              <a:t>Location_City</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Location_State</a:t>
            </a:r>
            <a:r>
              <a:rPr lang="en-US" dirty="0">
                <a:solidFill>
                  <a:schemeClr val="tx1"/>
                </a:solidFill>
                <a:latin typeface="Arial" panose="020B0604020202020204" pitchFamily="34" charset="0"/>
                <a:cs typeface="Arial" panose="020B0604020202020204" pitchFamily="34" charset="0"/>
              </a:rPr>
              <a:t>, Zone, </a:t>
            </a:r>
            <a:r>
              <a:rPr lang="en-US" dirty="0" err="1">
                <a:solidFill>
                  <a:schemeClr val="tx1"/>
                </a:solidFill>
                <a:latin typeface="Arial" panose="020B0604020202020204" pitchFamily="34" charset="0"/>
                <a:cs typeface="Arial" panose="020B0604020202020204" pitchFamily="34" charset="0"/>
              </a:rPr>
              <a:t>Location_Country</a:t>
            </a:r>
            <a:r>
              <a:rPr lang="en-US" dirty="0">
                <a:solidFill>
                  <a:schemeClr val="tx1"/>
                </a:solidFill>
                <a:latin typeface="Arial" panose="020B0604020202020204" pitchFamily="34" charset="0"/>
                <a:cs typeface="Arial" panose="020B0604020202020204" pitchFamily="34" charset="0"/>
              </a:rPr>
              <a:t>: Geographic details of the evaluation location.</a:t>
            </a:r>
          </a:p>
          <a:p>
            <a:pPr marL="342900" indent="-342900" algn="l">
              <a:buClr>
                <a:schemeClr val="tx1"/>
              </a:buClr>
              <a:buAutoNum type="arabicParenR"/>
            </a:pPr>
            <a:r>
              <a:rPr lang="en-US" dirty="0">
                <a:solidFill>
                  <a:schemeClr val="tx1"/>
                </a:solidFill>
                <a:latin typeface="Arial" panose="020B0604020202020204" pitchFamily="34" charset="0"/>
                <a:cs typeface="Arial" panose="020B0604020202020204" pitchFamily="34" charset="0"/>
              </a:rPr>
              <a:t>Time of entry, Time of exit, Duration of visit (seconds): Timing details of the customer visit.</a:t>
            </a:r>
          </a:p>
          <a:p>
            <a:pPr marL="342900" indent="-342900" algn="l">
              <a:buClr>
                <a:schemeClr val="tx1"/>
              </a:buClr>
              <a:buAutoNum type="arabicParenR"/>
            </a:pPr>
            <a:r>
              <a:rPr lang="en-US" dirty="0">
                <a:solidFill>
                  <a:schemeClr val="tx1"/>
                </a:solidFill>
                <a:latin typeface="Arial" panose="020B0604020202020204" pitchFamily="34" charset="0"/>
                <a:cs typeface="Arial" panose="020B0604020202020204" pitchFamily="34" charset="0"/>
              </a:rPr>
              <a:t>Style Advisors Present, Customers Present: Number of Style Advisors and customers present during the visit.</a:t>
            </a:r>
          </a:p>
          <a:p>
            <a:pPr marL="342900" indent="-342900" algn="l">
              <a:buClr>
                <a:schemeClr val="tx1"/>
              </a:buClr>
              <a:buAutoNum type="arabicParenR"/>
            </a:pPr>
            <a:r>
              <a:rPr lang="en-US" dirty="0">
                <a:solidFill>
                  <a:schemeClr val="tx1"/>
                </a:solidFill>
                <a:latin typeface="Arial" panose="020B0604020202020204" pitchFamily="34" charset="0"/>
                <a:cs typeface="Arial" panose="020B0604020202020204" pitchFamily="34" charset="0"/>
              </a:rPr>
              <a:t>Age of Auditor, Gender of Auditor, Auditor Attire: Demographics and attire of the auditor conducting the evaluation.</a:t>
            </a:r>
          </a:p>
          <a:p>
            <a:pPr marL="342900" indent="-342900" algn="l">
              <a:buClr>
                <a:schemeClr val="tx1"/>
              </a:buClr>
              <a:buAutoNum type="arabicParenR"/>
            </a:pPr>
            <a:r>
              <a:rPr lang="en-US" dirty="0">
                <a:solidFill>
                  <a:schemeClr val="tx1"/>
                </a:solidFill>
                <a:latin typeface="Arial" panose="020B0604020202020204" pitchFamily="34" charset="0"/>
                <a:cs typeface="Arial" panose="020B0604020202020204" pitchFamily="34" charset="0"/>
              </a:rPr>
              <a:t>Style Advisor Name, Style Advisor Description: Details about the Style Advisor being evaluated.</a:t>
            </a:r>
          </a:p>
          <a:p>
            <a:pPr marL="342900" indent="-342900" algn="l">
              <a:buClr>
                <a:schemeClr val="tx1"/>
              </a:buClr>
              <a:buAutoNum type="arabicParenR"/>
            </a:pPr>
            <a:r>
              <a:rPr lang="en-US" dirty="0">
                <a:solidFill>
                  <a:schemeClr val="tx1"/>
                </a:solidFill>
                <a:latin typeface="Arial" panose="020B0604020202020204" pitchFamily="34" charset="0"/>
                <a:cs typeface="Arial" panose="020B0604020202020204" pitchFamily="34" charset="0"/>
              </a:rPr>
              <a:t>Various criteria (e.g., 1.1 - Signage Clean &amp; Well Lit, 2.1 - First Impression): Specific aspects of the evaluation related to store ambiance, customer service, and overall experience. </a:t>
            </a:r>
          </a:p>
        </p:txBody>
      </p:sp>
    </p:spTree>
    <p:extLst>
      <p:ext uri="{BB962C8B-B14F-4D97-AF65-F5344CB8AC3E}">
        <p14:creationId xmlns:p14="http://schemas.microsoft.com/office/powerpoint/2010/main" val="541804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929F3-BC9A-C4C7-EBAA-030D0137FFF2}"/>
              </a:ext>
            </a:extLst>
          </p:cNvPr>
          <p:cNvSpPr>
            <a:spLocks noGrp="1"/>
          </p:cNvSpPr>
          <p:nvPr>
            <p:ph type="title"/>
          </p:nvPr>
        </p:nvSpPr>
        <p:spPr>
          <a:xfrm>
            <a:off x="1134534" y="254000"/>
            <a:ext cx="8852746" cy="701040"/>
          </a:xfrm>
        </p:spPr>
        <p:txBody>
          <a:bodyPr>
            <a:normAutofit/>
          </a:bodyPr>
          <a:lstStyle/>
          <a:p>
            <a:pPr algn="ctr"/>
            <a:r>
              <a:rPr lang="en-US" sz="4000" b="1" u="sng" dirty="0">
                <a:solidFill>
                  <a:schemeClr val="tx1"/>
                </a:solidFill>
                <a:latin typeface="Arial" panose="020B0604020202020204" pitchFamily="34" charset="0"/>
                <a:cs typeface="Arial" panose="020B0604020202020204" pitchFamily="34" charset="0"/>
              </a:rPr>
              <a:t>Performance Grading </a:t>
            </a:r>
          </a:p>
        </p:txBody>
      </p:sp>
      <p:sp>
        <p:nvSpPr>
          <p:cNvPr id="15" name="Content Placeholder 14">
            <a:extLst>
              <a:ext uri="{FF2B5EF4-FFF2-40B4-BE49-F238E27FC236}">
                <a16:creationId xmlns:a16="http://schemas.microsoft.com/office/drawing/2014/main" id="{20E7E2F4-521C-36D4-134F-AA04CACB1CA2}"/>
              </a:ext>
            </a:extLst>
          </p:cNvPr>
          <p:cNvSpPr>
            <a:spLocks noGrp="1"/>
          </p:cNvSpPr>
          <p:nvPr>
            <p:ph idx="1"/>
          </p:nvPr>
        </p:nvSpPr>
        <p:spPr>
          <a:xfrm>
            <a:off x="375920" y="1388429"/>
            <a:ext cx="10840720" cy="4809171"/>
          </a:xfrm>
        </p:spPr>
        <p:txBody>
          <a:bodyPr/>
          <a:lstStyle/>
          <a:p>
            <a:pPr>
              <a:buClr>
                <a:schemeClr val="tx1"/>
              </a:buClr>
              <a:buFont typeface="Arial" panose="020B0604020202020204" pitchFamily="34" charset="0"/>
              <a:buChar char="•"/>
            </a:pPr>
            <a:r>
              <a:rPr lang="en-US" dirty="0">
                <a:solidFill>
                  <a:schemeClr val="tx1"/>
                </a:solidFill>
              </a:rPr>
              <a:t>Grading as per performance:</a:t>
            </a:r>
          </a:p>
          <a:p>
            <a:pPr marL="0" indent="0">
              <a:buClr>
                <a:schemeClr val="tx1"/>
              </a:buClr>
              <a:buNone/>
            </a:pPr>
            <a:r>
              <a:rPr lang="en-US" dirty="0">
                <a:solidFill>
                  <a:schemeClr val="tx1"/>
                </a:solidFill>
              </a:rPr>
              <a:t>High Performer – 16%</a:t>
            </a:r>
          </a:p>
          <a:p>
            <a:pPr marL="0" indent="0">
              <a:buClr>
                <a:schemeClr val="tx1"/>
              </a:buClr>
              <a:buNone/>
            </a:pPr>
            <a:r>
              <a:rPr lang="en-US" dirty="0">
                <a:solidFill>
                  <a:schemeClr val="tx1"/>
                </a:solidFill>
              </a:rPr>
              <a:t>Average Performer – 44%</a:t>
            </a:r>
          </a:p>
          <a:p>
            <a:pPr marL="0" indent="0">
              <a:buClr>
                <a:schemeClr val="tx1"/>
              </a:buClr>
              <a:buNone/>
            </a:pPr>
            <a:r>
              <a:rPr lang="en-US" dirty="0">
                <a:solidFill>
                  <a:schemeClr val="tx1"/>
                </a:solidFill>
              </a:rPr>
              <a:t>Low Performer – 26%</a:t>
            </a:r>
          </a:p>
          <a:p>
            <a:pPr marL="0" indent="0">
              <a:buClr>
                <a:schemeClr val="tx1"/>
              </a:buClr>
              <a:buNone/>
            </a:pPr>
            <a:r>
              <a:rPr lang="en-US" dirty="0">
                <a:solidFill>
                  <a:schemeClr val="tx1"/>
                </a:solidFill>
              </a:rPr>
              <a:t>Bottom Performer – 13%</a:t>
            </a:r>
          </a:p>
          <a:p>
            <a:pPr marL="0" indent="0">
              <a:buClr>
                <a:schemeClr val="tx1"/>
              </a:buClr>
              <a:buNone/>
            </a:pPr>
            <a:endParaRPr lang="en-US" dirty="0">
              <a:solidFill>
                <a:schemeClr val="tx1"/>
              </a:solidFill>
            </a:endParaRPr>
          </a:p>
        </p:txBody>
      </p:sp>
      <p:pic>
        <p:nvPicPr>
          <p:cNvPr id="17" name="Picture 16">
            <a:extLst>
              <a:ext uri="{FF2B5EF4-FFF2-40B4-BE49-F238E27FC236}">
                <a16:creationId xmlns:a16="http://schemas.microsoft.com/office/drawing/2014/main" id="{09E636D0-A449-0AB1-8B3D-9309DC6CBA56}"/>
              </a:ext>
            </a:extLst>
          </p:cNvPr>
          <p:cNvPicPr>
            <a:picLocks noChangeAspect="1"/>
          </p:cNvPicPr>
          <p:nvPr/>
        </p:nvPicPr>
        <p:blipFill>
          <a:blip r:embed="rId2"/>
          <a:stretch>
            <a:fillRect/>
          </a:stretch>
        </p:blipFill>
        <p:spPr>
          <a:xfrm>
            <a:off x="2890938" y="3737134"/>
            <a:ext cx="5339938" cy="2321560"/>
          </a:xfrm>
          <a:prstGeom prst="rect">
            <a:avLst/>
          </a:prstGeom>
        </p:spPr>
      </p:pic>
    </p:spTree>
    <p:extLst>
      <p:ext uri="{BB962C8B-B14F-4D97-AF65-F5344CB8AC3E}">
        <p14:creationId xmlns:p14="http://schemas.microsoft.com/office/powerpoint/2010/main" val="1977976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02090-35BC-97E6-2E2A-DC1852250906}"/>
              </a:ext>
            </a:extLst>
          </p:cNvPr>
          <p:cNvSpPr>
            <a:spLocks noGrp="1"/>
          </p:cNvSpPr>
          <p:nvPr>
            <p:ph type="title"/>
          </p:nvPr>
        </p:nvSpPr>
        <p:spPr>
          <a:xfrm>
            <a:off x="802640" y="193040"/>
            <a:ext cx="10261600" cy="833120"/>
          </a:xfrm>
        </p:spPr>
        <p:txBody>
          <a:bodyPr>
            <a:normAutofit/>
          </a:bodyPr>
          <a:lstStyle/>
          <a:p>
            <a:pPr algn="ctr"/>
            <a:r>
              <a:rPr lang="en-US" sz="4000" b="1" u="sng" dirty="0">
                <a:solidFill>
                  <a:schemeClr val="tx1"/>
                </a:solidFill>
                <a:latin typeface="Arial" panose="020B0604020202020204" pitchFamily="34" charset="0"/>
                <a:cs typeface="Arial" panose="020B0604020202020204" pitchFamily="34" charset="0"/>
              </a:rPr>
              <a:t>Pivot Table Analysis </a:t>
            </a:r>
          </a:p>
        </p:txBody>
      </p:sp>
      <p:sp>
        <p:nvSpPr>
          <p:cNvPr id="3" name="Content Placeholder 2">
            <a:extLst>
              <a:ext uri="{FF2B5EF4-FFF2-40B4-BE49-F238E27FC236}">
                <a16:creationId xmlns:a16="http://schemas.microsoft.com/office/drawing/2014/main" id="{67F43483-91A4-9558-D43B-21FA5A51A950}"/>
              </a:ext>
            </a:extLst>
          </p:cNvPr>
          <p:cNvSpPr>
            <a:spLocks noGrp="1"/>
          </p:cNvSpPr>
          <p:nvPr>
            <p:ph idx="1"/>
          </p:nvPr>
        </p:nvSpPr>
        <p:spPr>
          <a:xfrm>
            <a:off x="426720" y="1330960"/>
            <a:ext cx="11287760" cy="5212079"/>
          </a:xfrm>
        </p:spPr>
        <p:txBody>
          <a:bodyPr>
            <a:normAutofit/>
          </a:bodyPr>
          <a:lstStyle/>
          <a:p>
            <a:pPr>
              <a:buClr>
                <a:schemeClr val="tx1"/>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Pivot table showing average </a:t>
            </a:r>
            <a:r>
              <a:rPr lang="en-US" sz="2000" dirty="0" err="1">
                <a:latin typeface="Arial" panose="020B0604020202020204" pitchFamily="34" charset="0"/>
                <a:cs typeface="Arial" panose="020B0604020202020204" pitchFamily="34" charset="0"/>
              </a:rPr>
              <a:t>Evaluation_Score</a:t>
            </a:r>
            <a:r>
              <a:rPr lang="en-US" sz="2000" dirty="0">
                <a:latin typeface="Arial" panose="020B0604020202020204" pitchFamily="34" charset="0"/>
                <a:cs typeface="Arial" panose="020B0604020202020204" pitchFamily="34" charset="0"/>
              </a:rPr>
              <a:t> by Zone:</a:t>
            </a:r>
          </a:p>
          <a:p>
            <a:pPr marL="0" indent="0">
              <a:buClr>
                <a:schemeClr val="tx1"/>
              </a:buClr>
              <a:buNone/>
            </a:pPr>
            <a:endParaRPr lang="en-US" sz="2000" dirty="0">
              <a:latin typeface="Arial" panose="020B0604020202020204" pitchFamily="34" charset="0"/>
              <a:cs typeface="Arial" panose="020B0604020202020204" pitchFamily="34" charset="0"/>
            </a:endParaRPr>
          </a:p>
          <a:p>
            <a:pPr marL="0" indent="0">
              <a:buClr>
                <a:schemeClr val="tx1"/>
              </a:buClr>
              <a:buNone/>
            </a:pPr>
            <a:endParaRPr lang="en-US" sz="2000" dirty="0">
              <a:latin typeface="Arial" panose="020B0604020202020204" pitchFamily="34" charset="0"/>
              <a:cs typeface="Arial" panose="020B0604020202020204" pitchFamily="34" charset="0"/>
            </a:endParaRPr>
          </a:p>
          <a:p>
            <a:pPr marL="0" indent="0">
              <a:buClr>
                <a:schemeClr val="tx1"/>
              </a:buClr>
              <a:buNone/>
            </a:pPr>
            <a:endParaRPr lang="en-US" sz="2000" dirty="0">
              <a:latin typeface="Arial" panose="020B0604020202020204" pitchFamily="34" charset="0"/>
              <a:cs typeface="Arial" panose="020B0604020202020204" pitchFamily="34" charset="0"/>
            </a:endParaRPr>
          </a:p>
          <a:p>
            <a:pPr marL="0" indent="0">
              <a:buClr>
                <a:schemeClr val="tx1"/>
              </a:buClr>
              <a:buNone/>
            </a:pPr>
            <a:endParaRPr lang="en-US" sz="2000" dirty="0">
              <a:latin typeface="Arial" panose="020B0604020202020204" pitchFamily="34" charset="0"/>
              <a:cs typeface="Arial" panose="020B0604020202020204" pitchFamily="34" charset="0"/>
            </a:endParaRPr>
          </a:p>
          <a:p>
            <a:pPr marL="0" indent="0">
              <a:buClr>
                <a:schemeClr val="tx1"/>
              </a:buClr>
              <a:buNone/>
            </a:pPr>
            <a:endParaRPr lang="en-US" sz="2000" dirty="0">
              <a:latin typeface="Arial" panose="020B0604020202020204" pitchFamily="34" charset="0"/>
              <a:cs typeface="Arial" panose="020B0604020202020204" pitchFamily="34" charset="0"/>
            </a:endParaRPr>
          </a:p>
          <a:p>
            <a:pPr>
              <a:buClr>
                <a:schemeClr val="tx1"/>
              </a:buClr>
            </a:pPr>
            <a:r>
              <a:rPr lang="en-US" sz="2000" dirty="0"/>
              <a:t>Key observations from the pivot table:</a:t>
            </a:r>
          </a:p>
          <a:p>
            <a:pPr>
              <a:buClr>
                <a:schemeClr val="tx1"/>
              </a:buClr>
              <a:buFontTx/>
              <a:buChar char="-"/>
            </a:pPr>
            <a:r>
              <a:rPr lang="en-US" sz="2000" dirty="0">
                <a:latin typeface="Arial" panose="020B0604020202020204" pitchFamily="34" charset="0"/>
                <a:cs typeface="Arial" panose="020B0604020202020204" pitchFamily="34" charset="0"/>
              </a:rPr>
              <a:t>Arranged zone wise </a:t>
            </a:r>
            <a:r>
              <a:rPr lang="en-US" sz="2000" dirty="0" err="1">
                <a:latin typeface="Arial" panose="020B0604020202020204" pitchFamily="34" charset="0"/>
                <a:cs typeface="Arial" panose="020B0604020202020204" pitchFamily="34" charset="0"/>
              </a:rPr>
              <a:t>Evaluation_score</a:t>
            </a:r>
            <a:r>
              <a:rPr lang="en-US" sz="2000" dirty="0">
                <a:latin typeface="Arial" panose="020B0604020202020204" pitchFamily="34" charset="0"/>
                <a:cs typeface="Arial" panose="020B0604020202020204" pitchFamily="34" charset="0"/>
              </a:rPr>
              <a:t> for total data set.</a:t>
            </a:r>
          </a:p>
          <a:p>
            <a:pPr>
              <a:buClr>
                <a:schemeClr val="tx1"/>
              </a:buClr>
              <a:buFontTx/>
              <a:buChar char="-"/>
            </a:pPr>
            <a:r>
              <a:rPr lang="en-US" sz="2000" dirty="0">
                <a:latin typeface="Arial" panose="020B0604020202020204" pitchFamily="34" charset="0"/>
                <a:cs typeface="Arial" panose="020B0604020202020204" pitchFamily="34" charset="0"/>
              </a:rPr>
              <a:t>Through help of pivot table calculated average of </a:t>
            </a:r>
            <a:r>
              <a:rPr lang="en-US" sz="2000" dirty="0" err="1">
                <a:latin typeface="Arial" panose="020B0604020202020204" pitchFamily="34" charset="0"/>
                <a:cs typeface="Arial" panose="020B0604020202020204" pitchFamily="34" charset="0"/>
              </a:rPr>
              <a:t>Evaluation_score</a:t>
            </a:r>
            <a:r>
              <a:rPr lang="en-US" sz="2000" dirty="0">
                <a:latin typeface="Arial" panose="020B0604020202020204" pitchFamily="34" charset="0"/>
                <a:cs typeface="Arial" panose="020B0604020202020204" pitchFamily="34" charset="0"/>
              </a:rPr>
              <a:t> for all regions</a:t>
            </a:r>
          </a:p>
          <a:p>
            <a:pPr>
              <a:buClr>
                <a:schemeClr val="tx1"/>
              </a:buClr>
              <a:buFontTx/>
              <a:buChar char="-"/>
            </a:pPr>
            <a:r>
              <a:rPr lang="en-US" sz="2000" dirty="0">
                <a:latin typeface="Arial" panose="020B0604020202020204" pitchFamily="34" charset="0"/>
                <a:cs typeface="Arial" panose="020B0604020202020204" pitchFamily="34" charset="0"/>
              </a:rPr>
              <a:t>Grand total average is 72.</a:t>
            </a:r>
          </a:p>
        </p:txBody>
      </p:sp>
      <p:pic>
        <p:nvPicPr>
          <p:cNvPr id="6" name="Picture 5">
            <a:extLst>
              <a:ext uri="{FF2B5EF4-FFF2-40B4-BE49-F238E27FC236}">
                <a16:creationId xmlns:a16="http://schemas.microsoft.com/office/drawing/2014/main" id="{7BE72AD1-2B20-94D7-7475-1716B92A1B0D}"/>
              </a:ext>
            </a:extLst>
          </p:cNvPr>
          <p:cNvPicPr>
            <a:picLocks noChangeAspect="1"/>
          </p:cNvPicPr>
          <p:nvPr/>
        </p:nvPicPr>
        <p:blipFill>
          <a:blip r:embed="rId2"/>
          <a:stretch>
            <a:fillRect/>
          </a:stretch>
        </p:blipFill>
        <p:spPr>
          <a:xfrm>
            <a:off x="2072640" y="1809599"/>
            <a:ext cx="6418527" cy="1776881"/>
          </a:xfrm>
          <a:prstGeom prst="rect">
            <a:avLst/>
          </a:prstGeom>
        </p:spPr>
      </p:pic>
    </p:spTree>
    <p:extLst>
      <p:ext uri="{BB962C8B-B14F-4D97-AF65-F5344CB8AC3E}">
        <p14:creationId xmlns:p14="http://schemas.microsoft.com/office/powerpoint/2010/main" val="2831218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065D3-10AD-C834-F92A-F89D962CC06C}"/>
              </a:ext>
            </a:extLst>
          </p:cNvPr>
          <p:cNvSpPr>
            <a:spLocks noGrp="1"/>
          </p:cNvSpPr>
          <p:nvPr>
            <p:ph type="title"/>
          </p:nvPr>
        </p:nvSpPr>
        <p:spPr>
          <a:xfrm>
            <a:off x="677334" y="284480"/>
            <a:ext cx="10325946" cy="822960"/>
          </a:xfrm>
        </p:spPr>
        <p:txBody>
          <a:bodyPr>
            <a:normAutofit/>
          </a:bodyPr>
          <a:lstStyle/>
          <a:p>
            <a:pPr algn="ctr"/>
            <a:r>
              <a:rPr lang="en-US" sz="4000" b="1" u="sng" dirty="0">
                <a:solidFill>
                  <a:schemeClr val="tx1"/>
                </a:solidFill>
                <a:latin typeface="Arial" panose="020B0604020202020204" pitchFamily="34" charset="0"/>
                <a:cs typeface="Arial" panose="020B0604020202020204" pitchFamily="34" charset="0"/>
              </a:rPr>
              <a:t>High Performer Analysis </a:t>
            </a:r>
          </a:p>
        </p:txBody>
      </p:sp>
      <p:sp>
        <p:nvSpPr>
          <p:cNvPr id="3" name="Content Placeholder 2">
            <a:extLst>
              <a:ext uri="{FF2B5EF4-FFF2-40B4-BE49-F238E27FC236}">
                <a16:creationId xmlns:a16="http://schemas.microsoft.com/office/drawing/2014/main" id="{A766D9FD-B6A9-81BA-66AB-0EC30F1C5946}"/>
              </a:ext>
            </a:extLst>
          </p:cNvPr>
          <p:cNvSpPr>
            <a:spLocks noGrp="1"/>
          </p:cNvSpPr>
          <p:nvPr>
            <p:ph idx="1"/>
          </p:nvPr>
        </p:nvSpPr>
        <p:spPr>
          <a:xfrm>
            <a:off x="416560" y="1300480"/>
            <a:ext cx="11257280" cy="5273039"/>
          </a:xfrm>
        </p:spPr>
        <p:txBody>
          <a:bodyPr>
            <a:normAutofit/>
          </a:bodyPr>
          <a:lstStyle/>
          <a:p>
            <a:pPr>
              <a:buClr>
                <a:schemeClr val="tx1"/>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Pivot table or chart showing percentage of High Performers by region:</a:t>
            </a:r>
          </a:p>
          <a:p>
            <a:pPr marL="0" indent="0">
              <a:buClr>
                <a:schemeClr val="tx1"/>
              </a:buClr>
              <a:buNone/>
            </a:pPr>
            <a:endParaRPr lang="en-US" sz="2000" dirty="0">
              <a:latin typeface="Arial" panose="020B0604020202020204" pitchFamily="34" charset="0"/>
              <a:cs typeface="Arial" panose="020B0604020202020204" pitchFamily="34" charset="0"/>
            </a:endParaRPr>
          </a:p>
          <a:p>
            <a:pPr marL="0" indent="0">
              <a:buClr>
                <a:schemeClr val="tx1"/>
              </a:buClr>
              <a:buNone/>
            </a:pPr>
            <a:endParaRPr lang="en-US" sz="2000" dirty="0">
              <a:latin typeface="Arial" panose="020B0604020202020204" pitchFamily="34" charset="0"/>
              <a:cs typeface="Arial" panose="020B0604020202020204" pitchFamily="34" charset="0"/>
            </a:endParaRPr>
          </a:p>
          <a:p>
            <a:pPr marL="0" indent="0">
              <a:buClr>
                <a:schemeClr val="tx1"/>
              </a:buClr>
              <a:buNone/>
            </a:pPr>
            <a:endParaRPr lang="en-US" sz="2000" dirty="0">
              <a:latin typeface="Arial" panose="020B0604020202020204" pitchFamily="34" charset="0"/>
              <a:cs typeface="Arial" panose="020B0604020202020204" pitchFamily="34" charset="0"/>
            </a:endParaRPr>
          </a:p>
          <a:p>
            <a:pPr marL="0" indent="0">
              <a:buClr>
                <a:schemeClr val="tx1"/>
              </a:buClr>
              <a:buNone/>
            </a:pPr>
            <a:endParaRPr lang="en-US" sz="2000" dirty="0">
              <a:latin typeface="Arial" panose="020B0604020202020204" pitchFamily="34" charset="0"/>
              <a:cs typeface="Arial" panose="020B0604020202020204" pitchFamily="34" charset="0"/>
            </a:endParaRPr>
          </a:p>
          <a:p>
            <a:pPr>
              <a:buClr>
                <a:schemeClr val="tx1"/>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Region with the highest percentage highlighted:</a:t>
            </a:r>
          </a:p>
          <a:p>
            <a:pPr marL="0" indent="0">
              <a:buClr>
                <a:schemeClr val="tx1"/>
              </a:buClr>
              <a:buNone/>
            </a:pPr>
            <a:r>
              <a:rPr lang="en-US" sz="2000" dirty="0">
                <a:latin typeface="Arial" panose="020B0604020202020204" pitchFamily="34" charset="0"/>
                <a:cs typeface="Arial" panose="020B0604020202020204" pitchFamily="34" charset="0"/>
              </a:rPr>
              <a:t>Region North has highest percentage of top performers </a:t>
            </a:r>
            <a:r>
              <a:rPr lang="en-US" sz="2000" dirty="0" err="1">
                <a:latin typeface="Arial" panose="020B0604020202020204" pitchFamily="34" charset="0"/>
                <a:cs typeface="Arial" panose="020B0604020202020204" pitchFamily="34" charset="0"/>
              </a:rPr>
              <a:t>i.e</a:t>
            </a:r>
            <a:r>
              <a:rPr lang="en-US" sz="2000" dirty="0">
                <a:latin typeface="Arial" panose="020B0604020202020204" pitchFamily="34" charset="0"/>
                <a:cs typeface="Arial" panose="020B0604020202020204" pitchFamily="34" charset="0"/>
              </a:rPr>
              <a:t> 35%</a:t>
            </a:r>
          </a:p>
        </p:txBody>
      </p:sp>
      <p:pic>
        <p:nvPicPr>
          <p:cNvPr id="7" name="Picture 6">
            <a:extLst>
              <a:ext uri="{FF2B5EF4-FFF2-40B4-BE49-F238E27FC236}">
                <a16:creationId xmlns:a16="http://schemas.microsoft.com/office/drawing/2014/main" id="{7123B4A2-577A-27C2-3D7D-E486A63585CE}"/>
              </a:ext>
            </a:extLst>
          </p:cNvPr>
          <p:cNvPicPr>
            <a:picLocks noChangeAspect="1"/>
          </p:cNvPicPr>
          <p:nvPr/>
        </p:nvPicPr>
        <p:blipFill>
          <a:blip r:embed="rId2"/>
          <a:stretch>
            <a:fillRect/>
          </a:stretch>
        </p:blipFill>
        <p:spPr>
          <a:xfrm>
            <a:off x="751840" y="1877032"/>
            <a:ext cx="9143999" cy="1465608"/>
          </a:xfrm>
          <a:prstGeom prst="rect">
            <a:avLst/>
          </a:prstGeom>
        </p:spPr>
      </p:pic>
    </p:spTree>
    <p:extLst>
      <p:ext uri="{BB962C8B-B14F-4D97-AF65-F5344CB8AC3E}">
        <p14:creationId xmlns:p14="http://schemas.microsoft.com/office/powerpoint/2010/main" val="1726208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08975-35BC-6470-C95F-840869D5C12A}"/>
              </a:ext>
            </a:extLst>
          </p:cNvPr>
          <p:cNvSpPr>
            <a:spLocks noGrp="1"/>
          </p:cNvSpPr>
          <p:nvPr>
            <p:ph type="title"/>
          </p:nvPr>
        </p:nvSpPr>
        <p:spPr>
          <a:xfrm>
            <a:off x="677334" y="304800"/>
            <a:ext cx="10315785" cy="762000"/>
          </a:xfrm>
        </p:spPr>
        <p:txBody>
          <a:bodyPr>
            <a:noAutofit/>
          </a:bodyPr>
          <a:lstStyle/>
          <a:p>
            <a:pPr algn="ctr"/>
            <a:r>
              <a:rPr lang="en-US" sz="4000" b="1" u="sng" dirty="0">
                <a:solidFill>
                  <a:schemeClr val="tx1"/>
                </a:solidFill>
                <a:latin typeface="Arial" panose="020B0604020202020204" pitchFamily="34" charset="0"/>
                <a:cs typeface="Arial" panose="020B0604020202020204" pitchFamily="34" charset="0"/>
              </a:rPr>
              <a:t>Visualizations</a:t>
            </a:r>
            <a:endParaRPr lang="en-US" sz="4000" dirty="0"/>
          </a:p>
        </p:txBody>
      </p:sp>
      <p:sp>
        <p:nvSpPr>
          <p:cNvPr id="3" name="Content Placeholder 2">
            <a:extLst>
              <a:ext uri="{FF2B5EF4-FFF2-40B4-BE49-F238E27FC236}">
                <a16:creationId xmlns:a16="http://schemas.microsoft.com/office/drawing/2014/main" id="{55A709BE-7017-F038-764B-1DF3398FD7D0}"/>
              </a:ext>
            </a:extLst>
          </p:cNvPr>
          <p:cNvSpPr>
            <a:spLocks noGrp="1"/>
          </p:cNvSpPr>
          <p:nvPr>
            <p:ph sz="half" idx="1"/>
          </p:nvPr>
        </p:nvSpPr>
        <p:spPr/>
        <p:txBody>
          <a:bodyPr/>
          <a:lstStyle/>
          <a:p>
            <a:pPr>
              <a:buClr>
                <a:schemeClr val="tx1"/>
              </a:buClr>
              <a:buFont typeface="Wingdings" panose="05000000000000000000" pitchFamily="2" charset="2"/>
              <a:buChar char="Ø"/>
            </a:pPr>
            <a:r>
              <a:rPr lang="en-US" dirty="0"/>
              <a:t>Average Evaluation score by zone</a:t>
            </a:r>
          </a:p>
          <a:p>
            <a:pPr marL="0" indent="0">
              <a:buClr>
                <a:schemeClr val="tx1"/>
              </a:buClr>
              <a:buNone/>
            </a:pPr>
            <a:endParaRPr lang="en-US" dirty="0"/>
          </a:p>
        </p:txBody>
      </p:sp>
      <p:sp>
        <p:nvSpPr>
          <p:cNvPr id="4" name="Content Placeholder 3">
            <a:extLst>
              <a:ext uri="{FF2B5EF4-FFF2-40B4-BE49-F238E27FC236}">
                <a16:creationId xmlns:a16="http://schemas.microsoft.com/office/drawing/2014/main" id="{25D0296D-C0BF-0B5E-5196-9F915FE499F4}"/>
              </a:ext>
            </a:extLst>
          </p:cNvPr>
          <p:cNvSpPr>
            <a:spLocks noGrp="1"/>
          </p:cNvSpPr>
          <p:nvPr>
            <p:ph sz="half" idx="2"/>
          </p:nvPr>
        </p:nvSpPr>
        <p:spPr>
          <a:xfrm>
            <a:off x="5089970" y="2160589"/>
            <a:ext cx="4184034" cy="3880774"/>
          </a:xfrm>
        </p:spPr>
        <p:txBody>
          <a:bodyPr/>
          <a:lstStyle/>
          <a:p>
            <a:pPr>
              <a:buClr>
                <a:schemeClr val="tx1"/>
              </a:buClr>
              <a:buFont typeface="Wingdings" panose="05000000000000000000" pitchFamily="2" charset="2"/>
              <a:buChar char="Ø"/>
            </a:pPr>
            <a:r>
              <a:rPr lang="en-US" dirty="0"/>
              <a:t>Percentage of High Performers by Region</a:t>
            </a:r>
          </a:p>
          <a:p>
            <a:pPr marL="0" indent="0">
              <a:buClr>
                <a:schemeClr val="tx1"/>
              </a:buClr>
              <a:buNone/>
            </a:pPr>
            <a:endParaRPr lang="en-US" dirty="0"/>
          </a:p>
        </p:txBody>
      </p:sp>
      <p:pic>
        <p:nvPicPr>
          <p:cNvPr id="6" name="Picture 5">
            <a:extLst>
              <a:ext uri="{FF2B5EF4-FFF2-40B4-BE49-F238E27FC236}">
                <a16:creationId xmlns:a16="http://schemas.microsoft.com/office/drawing/2014/main" id="{C790373F-B788-A738-D7D8-7DF4BCB1A980}"/>
              </a:ext>
            </a:extLst>
          </p:cNvPr>
          <p:cNvPicPr>
            <a:picLocks noChangeAspect="1"/>
          </p:cNvPicPr>
          <p:nvPr/>
        </p:nvPicPr>
        <p:blipFill>
          <a:blip r:embed="rId2"/>
          <a:stretch>
            <a:fillRect/>
          </a:stretch>
        </p:blipFill>
        <p:spPr>
          <a:xfrm>
            <a:off x="5089970" y="3063174"/>
            <a:ext cx="4541710" cy="2807141"/>
          </a:xfrm>
          <a:prstGeom prst="rect">
            <a:avLst/>
          </a:prstGeom>
        </p:spPr>
      </p:pic>
      <p:pic>
        <p:nvPicPr>
          <p:cNvPr id="8" name="Picture 7">
            <a:extLst>
              <a:ext uri="{FF2B5EF4-FFF2-40B4-BE49-F238E27FC236}">
                <a16:creationId xmlns:a16="http://schemas.microsoft.com/office/drawing/2014/main" id="{AD3C6087-B8E1-8626-29A7-35021D933523}"/>
              </a:ext>
            </a:extLst>
          </p:cNvPr>
          <p:cNvPicPr>
            <a:picLocks noChangeAspect="1"/>
          </p:cNvPicPr>
          <p:nvPr/>
        </p:nvPicPr>
        <p:blipFill>
          <a:blip r:embed="rId3"/>
          <a:stretch>
            <a:fillRect/>
          </a:stretch>
        </p:blipFill>
        <p:spPr>
          <a:xfrm>
            <a:off x="912888" y="2956560"/>
            <a:ext cx="3712925" cy="2667552"/>
          </a:xfrm>
          <a:prstGeom prst="rect">
            <a:avLst/>
          </a:prstGeom>
        </p:spPr>
      </p:pic>
    </p:spTree>
    <p:extLst>
      <p:ext uri="{BB962C8B-B14F-4D97-AF65-F5344CB8AC3E}">
        <p14:creationId xmlns:p14="http://schemas.microsoft.com/office/powerpoint/2010/main" val="2522947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6ABE8-1056-5286-4352-A69A7EA2BD55}"/>
              </a:ext>
            </a:extLst>
          </p:cNvPr>
          <p:cNvSpPr>
            <a:spLocks noGrp="1"/>
          </p:cNvSpPr>
          <p:nvPr>
            <p:ph type="title"/>
          </p:nvPr>
        </p:nvSpPr>
        <p:spPr>
          <a:xfrm>
            <a:off x="677334" y="254000"/>
            <a:ext cx="9929706" cy="873760"/>
          </a:xfrm>
        </p:spPr>
        <p:txBody>
          <a:bodyPr>
            <a:normAutofit/>
          </a:bodyPr>
          <a:lstStyle/>
          <a:p>
            <a:pPr algn="ctr"/>
            <a:r>
              <a:rPr lang="en-US" sz="4000" b="1" u="sng" dirty="0">
                <a:solidFill>
                  <a:schemeClr val="tx1"/>
                </a:solidFill>
                <a:latin typeface="Arial" panose="020B0604020202020204" pitchFamily="34" charset="0"/>
                <a:cs typeface="Arial" panose="020B0604020202020204" pitchFamily="34" charset="0"/>
              </a:rPr>
              <a:t>Visualizations</a:t>
            </a:r>
            <a:endParaRPr lang="en-US" sz="4000" dirty="0"/>
          </a:p>
        </p:txBody>
      </p:sp>
      <p:sp>
        <p:nvSpPr>
          <p:cNvPr id="3" name="Content Placeholder 2">
            <a:extLst>
              <a:ext uri="{FF2B5EF4-FFF2-40B4-BE49-F238E27FC236}">
                <a16:creationId xmlns:a16="http://schemas.microsoft.com/office/drawing/2014/main" id="{B1CBB292-1352-C955-FE49-13F4ED9F8526}"/>
              </a:ext>
            </a:extLst>
          </p:cNvPr>
          <p:cNvSpPr>
            <a:spLocks noGrp="1"/>
          </p:cNvSpPr>
          <p:nvPr>
            <p:ph sz="half" idx="1"/>
          </p:nvPr>
        </p:nvSpPr>
        <p:spPr>
          <a:xfrm>
            <a:off x="908011" y="1713549"/>
            <a:ext cx="4184035" cy="3880772"/>
          </a:xfrm>
        </p:spPr>
        <p:txBody>
          <a:bodyPr>
            <a:normAutofit/>
          </a:bodyPr>
          <a:lstStyle/>
          <a:p>
            <a:pPr>
              <a:buClr>
                <a:schemeClr val="tx1"/>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Performance Trends Over Time </a:t>
            </a:r>
          </a:p>
          <a:p>
            <a:pPr marL="0" indent="0">
              <a:buClr>
                <a:schemeClr val="tx1"/>
              </a:buClr>
              <a:buNone/>
            </a:pPr>
            <a:endParaRPr lang="en-US" sz="20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6551C0A9-2B85-53D8-255D-434D6E7F4961}"/>
              </a:ext>
            </a:extLst>
          </p:cNvPr>
          <p:cNvSpPr>
            <a:spLocks noGrp="1"/>
          </p:cNvSpPr>
          <p:nvPr>
            <p:ph sz="half" idx="2"/>
          </p:nvPr>
        </p:nvSpPr>
        <p:spPr>
          <a:xfrm>
            <a:off x="5639003" y="1713549"/>
            <a:ext cx="5644985" cy="4575491"/>
          </a:xfrm>
        </p:spPr>
        <p:txBody>
          <a:bodyPr>
            <a:normAutofit/>
          </a:bodyPr>
          <a:lstStyle/>
          <a:p>
            <a:pPr>
              <a:buClr>
                <a:schemeClr val="tx1"/>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High vs. Low Performers Comparison  </a:t>
            </a:r>
          </a:p>
          <a:p>
            <a:pPr marL="0" indent="0">
              <a:buClr>
                <a:schemeClr val="tx1"/>
              </a:buClr>
              <a:buNone/>
            </a:pPr>
            <a:endParaRPr lang="en-US" sz="20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CAE9176-E219-0099-2426-4753F5257C88}"/>
              </a:ext>
            </a:extLst>
          </p:cNvPr>
          <p:cNvPicPr>
            <a:picLocks noChangeAspect="1"/>
          </p:cNvPicPr>
          <p:nvPr/>
        </p:nvPicPr>
        <p:blipFill>
          <a:blip r:embed="rId2"/>
          <a:stretch>
            <a:fillRect/>
          </a:stretch>
        </p:blipFill>
        <p:spPr>
          <a:xfrm>
            <a:off x="634531" y="2710739"/>
            <a:ext cx="4730993" cy="3354781"/>
          </a:xfrm>
          <a:prstGeom prst="rect">
            <a:avLst/>
          </a:prstGeom>
        </p:spPr>
      </p:pic>
      <p:pic>
        <p:nvPicPr>
          <p:cNvPr id="10" name="Picture 9">
            <a:extLst>
              <a:ext uri="{FF2B5EF4-FFF2-40B4-BE49-F238E27FC236}">
                <a16:creationId xmlns:a16="http://schemas.microsoft.com/office/drawing/2014/main" id="{449CC3B7-4ED4-7F85-55D6-7CA53137FFB4}"/>
              </a:ext>
            </a:extLst>
          </p:cNvPr>
          <p:cNvPicPr>
            <a:picLocks noChangeAspect="1"/>
          </p:cNvPicPr>
          <p:nvPr/>
        </p:nvPicPr>
        <p:blipFill>
          <a:blip r:embed="rId3"/>
          <a:stretch>
            <a:fillRect/>
          </a:stretch>
        </p:blipFill>
        <p:spPr>
          <a:xfrm>
            <a:off x="5533252" y="2710739"/>
            <a:ext cx="5372376" cy="3283119"/>
          </a:xfrm>
          <a:prstGeom prst="rect">
            <a:avLst/>
          </a:prstGeom>
        </p:spPr>
      </p:pic>
    </p:spTree>
    <p:extLst>
      <p:ext uri="{BB962C8B-B14F-4D97-AF65-F5344CB8AC3E}">
        <p14:creationId xmlns:p14="http://schemas.microsoft.com/office/powerpoint/2010/main" val="3926870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F9FB3-1B5D-3038-F811-643A342CB729}"/>
              </a:ext>
            </a:extLst>
          </p:cNvPr>
          <p:cNvSpPr>
            <a:spLocks noGrp="1"/>
          </p:cNvSpPr>
          <p:nvPr>
            <p:ph type="title"/>
          </p:nvPr>
        </p:nvSpPr>
        <p:spPr>
          <a:xfrm>
            <a:off x="677334" y="134526"/>
            <a:ext cx="10061786" cy="729074"/>
          </a:xfrm>
        </p:spPr>
        <p:txBody>
          <a:bodyPr>
            <a:noAutofit/>
          </a:bodyPr>
          <a:lstStyle/>
          <a:p>
            <a:pPr algn="ctr"/>
            <a:r>
              <a:rPr lang="en-US" sz="4000" b="1" u="sng" dirty="0">
                <a:solidFill>
                  <a:schemeClr val="tx1"/>
                </a:solidFill>
                <a:latin typeface="Arial" panose="020B0604020202020204" pitchFamily="34" charset="0"/>
                <a:cs typeface="Arial" panose="020B0604020202020204" pitchFamily="34" charset="0"/>
              </a:rPr>
              <a:t>Visualizations</a:t>
            </a:r>
            <a:endParaRPr lang="en-US" sz="4000" dirty="0"/>
          </a:p>
        </p:txBody>
      </p:sp>
      <p:sp>
        <p:nvSpPr>
          <p:cNvPr id="3" name="Content Placeholder 2">
            <a:extLst>
              <a:ext uri="{FF2B5EF4-FFF2-40B4-BE49-F238E27FC236}">
                <a16:creationId xmlns:a16="http://schemas.microsoft.com/office/drawing/2014/main" id="{3351BB58-3AF6-4E64-5B9E-C17C5D5AF4DB}"/>
              </a:ext>
            </a:extLst>
          </p:cNvPr>
          <p:cNvSpPr>
            <a:spLocks noGrp="1"/>
          </p:cNvSpPr>
          <p:nvPr>
            <p:ph idx="1"/>
          </p:nvPr>
        </p:nvSpPr>
        <p:spPr>
          <a:xfrm>
            <a:off x="365760" y="1239521"/>
            <a:ext cx="11277600" cy="5483954"/>
          </a:xfrm>
        </p:spPr>
        <p:txBody>
          <a:bodyPr/>
          <a:lstStyle/>
          <a:p>
            <a:pPr>
              <a:buClr>
                <a:schemeClr val="tx1"/>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Breakdown by Evaluation Criteria</a:t>
            </a:r>
          </a:p>
          <a:p>
            <a:pPr>
              <a:buClr>
                <a:schemeClr val="tx1"/>
              </a:buClr>
              <a:buFont typeface="Wingdings" panose="05000000000000000000" pitchFamily="2" charset="2"/>
              <a:buChar char="Ø"/>
            </a:pPr>
            <a:endParaRPr lang="en-US" dirty="0"/>
          </a:p>
        </p:txBody>
      </p:sp>
      <p:pic>
        <p:nvPicPr>
          <p:cNvPr id="5" name="Picture 4">
            <a:extLst>
              <a:ext uri="{FF2B5EF4-FFF2-40B4-BE49-F238E27FC236}">
                <a16:creationId xmlns:a16="http://schemas.microsoft.com/office/drawing/2014/main" id="{DFE8BC4F-3F79-BC73-E334-248C3D7644FF}"/>
              </a:ext>
            </a:extLst>
          </p:cNvPr>
          <p:cNvPicPr>
            <a:picLocks noChangeAspect="1"/>
          </p:cNvPicPr>
          <p:nvPr/>
        </p:nvPicPr>
        <p:blipFill>
          <a:blip r:embed="rId2"/>
          <a:stretch>
            <a:fillRect/>
          </a:stretch>
        </p:blipFill>
        <p:spPr>
          <a:xfrm>
            <a:off x="908815" y="1935290"/>
            <a:ext cx="9830305" cy="3683189"/>
          </a:xfrm>
          <a:prstGeom prst="rect">
            <a:avLst/>
          </a:prstGeom>
        </p:spPr>
      </p:pic>
    </p:spTree>
    <p:extLst>
      <p:ext uri="{BB962C8B-B14F-4D97-AF65-F5344CB8AC3E}">
        <p14:creationId xmlns:p14="http://schemas.microsoft.com/office/powerpoint/2010/main" val="1655022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A01FC-97E4-FDD0-0870-A1C4891F2F4A}"/>
              </a:ext>
            </a:extLst>
          </p:cNvPr>
          <p:cNvSpPr>
            <a:spLocks noGrp="1"/>
          </p:cNvSpPr>
          <p:nvPr>
            <p:ph type="title"/>
          </p:nvPr>
        </p:nvSpPr>
        <p:spPr>
          <a:xfrm>
            <a:off x="677334" y="156238"/>
            <a:ext cx="9381066" cy="880082"/>
          </a:xfrm>
        </p:spPr>
        <p:txBody>
          <a:bodyPr>
            <a:normAutofit/>
          </a:bodyPr>
          <a:lstStyle/>
          <a:p>
            <a:pPr algn="ctr"/>
            <a:r>
              <a:rPr lang="en-US" sz="4000" b="1" u="sng" dirty="0">
                <a:solidFill>
                  <a:schemeClr val="tx1"/>
                </a:solidFill>
                <a:latin typeface="Arial" panose="020B0604020202020204" pitchFamily="34" charset="0"/>
                <a:cs typeface="Arial" panose="020B0604020202020204" pitchFamily="34" charset="0"/>
              </a:rPr>
              <a:t>Key Insights </a:t>
            </a:r>
          </a:p>
        </p:txBody>
      </p:sp>
      <p:sp>
        <p:nvSpPr>
          <p:cNvPr id="3" name="Content Placeholder 2">
            <a:extLst>
              <a:ext uri="{FF2B5EF4-FFF2-40B4-BE49-F238E27FC236}">
                <a16:creationId xmlns:a16="http://schemas.microsoft.com/office/drawing/2014/main" id="{B9A5CDC8-DFB4-9693-6C9A-9C63879D13EF}"/>
              </a:ext>
            </a:extLst>
          </p:cNvPr>
          <p:cNvSpPr>
            <a:spLocks noGrp="1"/>
          </p:cNvSpPr>
          <p:nvPr>
            <p:ph idx="1"/>
          </p:nvPr>
        </p:nvSpPr>
        <p:spPr>
          <a:xfrm>
            <a:off x="355600" y="1280507"/>
            <a:ext cx="11389360" cy="5252373"/>
          </a:xfrm>
        </p:spPr>
        <p:txBody>
          <a:bodyPr/>
          <a:lstStyle/>
          <a:p>
            <a:pPr>
              <a:buClr>
                <a:schemeClr val="tx1"/>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North region has highest score of 77.</a:t>
            </a:r>
          </a:p>
          <a:p>
            <a:pPr>
              <a:buClr>
                <a:schemeClr val="tx1"/>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South has lowest score of 67.</a:t>
            </a:r>
          </a:p>
          <a:p>
            <a:pPr>
              <a:buClr>
                <a:schemeClr val="tx1"/>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Trends observed overtime are ups and downs but later with time it was increasing.</a:t>
            </a:r>
          </a:p>
          <a:p>
            <a:pPr>
              <a:buClr>
                <a:schemeClr val="tx1"/>
              </a:buClr>
              <a:buFont typeface="Wingdings" panose="05000000000000000000" pitchFamily="2" charset="2"/>
              <a:buChar char="Ø"/>
            </a:pPr>
            <a:r>
              <a:rPr lang="en-US" sz="2000" dirty="0">
                <a:latin typeface="Arial" panose="020B0604020202020204" pitchFamily="34" charset="0"/>
                <a:cs typeface="Arial" panose="020B0604020202020204" pitchFamily="34" charset="0"/>
              </a:rPr>
              <a:t>Performance distribution analysis:</a:t>
            </a:r>
          </a:p>
          <a:p>
            <a:pPr marL="0" indent="0">
              <a:buClr>
                <a:schemeClr val="tx1"/>
              </a:buClr>
              <a:buNone/>
            </a:pPr>
            <a:endParaRPr lang="en-US" sz="2000" dirty="0">
              <a:latin typeface="Arial" panose="020B0604020202020204" pitchFamily="34" charset="0"/>
              <a:cs typeface="Arial" panose="020B0604020202020204" pitchFamily="34" charset="0"/>
            </a:endParaRPr>
          </a:p>
          <a:p>
            <a:pPr>
              <a:buClr>
                <a:schemeClr val="tx1"/>
              </a:buClr>
              <a:buFont typeface="Wingdings" panose="05000000000000000000" pitchFamily="2" charset="2"/>
              <a:buChar char="Ø"/>
            </a:pPr>
            <a:endParaRPr lang="en-US" dirty="0"/>
          </a:p>
          <a:p>
            <a:pPr>
              <a:buClr>
                <a:schemeClr val="tx1"/>
              </a:buClr>
              <a:buFont typeface="Wingdings" panose="05000000000000000000" pitchFamily="2" charset="2"/>
              <a:buChar char="Ø"/>
            </a:pPr>
            <a:endParaRPr lang="en-US" dirty="0"/>
          </a:p>
        </p:txBody>
      </p:sp>
      <p:pic>
        <p:nvPicPr>
          <p:cNvPr id="5" name="Picture 4">
            <a:extLst>
              <a:ext uri="{FF2B5EF4-FFF2-40B4-BE49-F238E27FC236}">
                <a16:creationId xmlns:a16="http://schemas.microsoft.com/office/drawing/2014/main" id="{50F91C24-CC8C-CCC4-F965-9E769D051E3E}"/>
              </a:ext>
            </a:extLst>
          </p:cNvPr>
          <p:cNvPicPr>
            <a:picLocks noChangeAspect="1"/>
          </p:cNvPicPr>
          <p:nvPr/>
        </p:nvPicPr>
        <p:blipFill>
          <a:blip r:embed="rId2"/>
          <a:stretch>
            <a:fillRect/>
          </a:stretch>
        </p:blipFill>
        <p:spPr>
          <a:xfrm>
            <a:off x="447040" y="3307853"/>
            <a:ext cx="9763760" cy="2127747"/>
          </a:xfrm>
          <a:prstGeom prst="rect">
            <a:avLst/>
          </a:prstGeom>
        </p:spPr>
      </p:pic>
    </p:spTree>
    <p:extLst>
      <p:ext uri="{BB962C8B-B14F-4D97-AF65-F5344CB8AC3E}">
        <p14:creationId xmlns:p14="http://schemas.microsoft.com/office/powerpoint/2010/main" val="618482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6182A-2A15-992D-ABD5-B12DE3BB3A91}"/>
              </a:ext>
            </a:extLst>
          </p:cNvPr>
          <p:cNvSpPr>
            <a:spLocks noGrp="1"/>
          </p:cNvSpPr>
          <p:nvPr>
            <p:ph type="title"/>
          </p:nvPr>
        </p:nvSpPr>
        <p:spPr>
          <a:xfrm>
            <a:off x="677334" y="162560"/>
            <a:ext cx="10264986" cy="762000"/>
          </a:xfrm>
        </p:spPr>
        <p:txBody>
          <a:bodyPr>
            <a:normAutofit/>
          </a:bodyPr>
          <a:lstStyle/>
          <a:p>
            <a:pPr algn="ctr"/>
            <a:r>
              <a:rPr lang="en-US" sz="4400" b="1" u="sng" dirty="0">
                <a:solidFill>
                  <a:schemeClr val="tx1"/>
                </a:solidFill>
                <a:latin typeface="Arial" panose="020B0604020202020204" pitchFamily="34" charset="0"/>
                <a:cs typeface="Arial" panose="020B0604020202020204" pitchFamily="34" charset="0"/>
              </a:rPr>
              <a:t>Recommendations</a:t>
            </a:r>
            <a:r>
              <a:rPr lang="en-US" dirty="0"/>
              <a:t> </a:t>
            </a:r>
          </a:p>
        </p:txBody>
      </p:sp>
      <p:sp>
        <p:nvSpPr>
          <p:cNvPr id="3" name="Content Placeholder 2">
            <a:extLst>
              <a:ext uri="{FF2B5EF4-FFF2-40B4-BE49-F238E27FC236}">
                <a16:creationId xmlns:a16="http://schemas.microsoft.com/office/drawing/2014/main" id="{02AF38AB-7165-E300-04C5-C3F9A7012D69}"/>
              </a:ext>
            </a:extLst>
          </p:cNvPr>
          <p:cNvSpPr>
            <a:spLocks noGrp="1"/>
          </p:cNvSpPr>
          <p:nvPr>
            <p:ph idx="1"/>
          </p:nvPr>
        </p:nvSpPr>
        <p:spPr>
          <a:xfrm>
            <a:off x="502920" y="1178561"/>
            <a:ext cx="11186160" cy="5516879"/>
          </a:xfrm>
        </p:spPr>
        <p:txBody>
          <a:bodyPr>
            <a:noAutofit/>
          </a:bodyPr>
          <a:lstStyle/>
          <a:p>
            <a:pPr>
              <a:buClr>
                <a:schemeClr val="tx1"/>
              </a:buClr>
              <a:buFont typeface="Wingdings" panose="05000000000000000000" pitchFamily="2" charset="2"/>
              <a:buChar char="Ø"/>
            </a:pPr>
            <a:r>
              <a:rPr lang="en-US" b="0" i="0" dirty="0">
                <a:solidFill>
                  <a:srgbClr val="0D0D0D"/>
                </a:solidFill>
                <a:effectLst/>
                <a:latin typeface="Arial" panose="020B0604020202020204" pitchFamily="34" charset="0"/>
                <a:cs typeface="Arial" panose="020B0604020202020204" pitchFamily="34" charset="0"/>
              </a:rPr>
              <a:t>The number of Style Advisors appears to positively correlate with the performance in Trial Experience &amp; Upsell, with a discernible increase in performance as the number of advisors increases. </a:t>
            </a:r>
          </a:p>
          <a:p>
            <a:pPr>
              <a:buClr>
                <a:schemeClr val="tx1"/>
              </a:buClr>
              <a:buFont typeface="Wingdings" panose="05000000000000000000" pitchFamily="2" charset="2"/>
              <a:buChar char="Ø"/>
            </a:pPr>
            <a:r>
              <a:rPr lang="en-US" b="0" i="0" dirty="0">
                <a:solidFill>
                  <a:srgbClr val="0D0D0D"/>
                </a:solidFill>
                <a:effectLst/>
                <a:latin typeface="Arial" panose="020B0604020202020204" pitchFamily="34" charset="0"/>
                <a:cs typeface="Arial" panose="020B0604020202020204" pitchFamily="34" charset="0"/>
              </a:rPr>
              <a:t>Locations with fewer Style Advisors, such as those with 1 or 2 advisors, exhibit a wider performance range from 0 to 100, suggesting variability in the quality of trial experiences and upselling efforts. </a:t>
            </a:r>
          </a:p>
          <a:p>
            <a:pPr>
              <a:buClr>
                <a:schemeClr val="tx1"/>
              </a:buClr>
              <a:buFont typeface="Wingdings" panose="05000000000000000000" pitchFamily="2" charset="2"/>
              <a:buChar char="Ø"/>
            </a:pPr>
            <a:r>
              <a:rPr lang="en-US" b="0" i="0" dirty="0">
                <a:solidFill>
                  <a:srgbClr val="0D0D0D"/>
                </a:solidFill>
                <a:effectLst/>
                <a:latin typeface="Arial" panose="020B0604020202020204" pitchFamily="34" charset="0"/>
                <a:cs typeface="Arial" panose="020B0604020202020204" pitchFamily="34" charset="0"/>
              </a:rPr>
              <a:t>Conversely, as the number of Style Advisors increases to 3 or 4, the performance range becomes narrower, indicating a more consistent and potentially higher-quality trial experience and upselling across these locations.</a:t>
            </a:r>
          </a:p>
          <a:p>
            <a:pPr>
              <a:buClr>
                <a:schemeClr val="tx1"/>
              </a:buClr>
              <a:buFont typeface="Wingdings" panose="05000000000000000000" pitchFamily="2" charset="2"/>
              <a:buChar char="Ø"/>
            </a:pPr>
            <a:r>
              <a:rPr lang="en-US" b="0" i="0" dirty="0">
                <a:solidFill>
                  <a:srgbClr val="0D0D0D"/>
                </a:solidFill>
                <a:effectLst/>
                <a:latin typeface="Arial" panose="020B0604020202020204" pitchFamily="34" charset="0"/>
                <a:cs typeface="Arial" panose="020B0604020202020204" pitchFamily="34" charset="0"/>
              </a:rPr>
              <a:t>To enhance performance in Trial Experience &amp; Upsell, consider optimizing the staffing levels of Style Advisors based on the observed correlation, ensuring adequate coverage to maintain consistent service quality and maximize upselling opportunities. </a:t>
            </a:r>
          </a:p>
          <a:p>
            <a:pPr>
              <a:buClr>
                <a:schemeClr val="tx1"/>
              </a:buClr>
              <a:buFont typeface="Wingdings" panose="05000000000000000000" pitchFamily="2" charset="2"/>
              <a:buChar char="Ø"/>
            </a:pPr>
            <a:r>
              <a:rPr lang="en-US" b="0" i="0" dirty="0">
                <a:solidFill>
                  <a:srgbClr val="000000"/>
                </a:solidFill>
                <a:effectLst/>
                <a:latin typeface="Arial" panose="020B0604020202020204" pitchFamily="34" charset="0"/>
                <a:cs typeface="Arial" panose="020B0604020202020204" pitchFamily="34" charset="0"/>
              </a:rPr>
              <a:t>The majority of auditors are male, comprising 74% of the total, while females make up 26%. </a:t>
            </a:r>
            <a:endParaRPr lang="en-US" dirty="0">
              <a:solidFill>
                <a:srgbClr val="000000"/>
              </a:solidFill>
              <a:latin typeface="Arial" panose="020B0604020202020204" pitchFamily="34" charset="0"/>
              <a:cs typeface="Arial" panose="020B0604020202020204" pitchFamily="34" charset="0"/>
            </a:endParaRPr>
          </a:p>
          <a:p>
            <a:pPr>
              <a:buClr>
                <a:schemeClr val="tx1"/>
              </a:buClr>
              <a:buFont typeface="Wingdings" panose="05000000000000000000" pitchFamily="2" charset="2"/>
              <a:buChar char="Ø"/>
            </a:pPr>
            <a:r>
              <a:rPr lang="en-US" b="0" i="0" dirty="0">
                <a:solidFill>
                  <a:srgbClr val="000000"/>
                </a:solidFill>
                <a:effectLst/>
                <a:latin typeface="Arial" panose="020B0604020202020204" pitchFamily="34" charset="0"/>
                <a:cs typeface="Arial" panose="020B0604020202020204" pitchFamily="34" charset="0"/>
              </a:rPr>
              <a:t>Age-wise, the highest number(24) of auditors falls within the 27-37 age range, whereas the 57- 67(3) age group has the fewest auditors. </a:t>
            </a:r>
            <a:endParaRPr lang="en-US" dirty="0">
              <a:solidFill>
                <a:srgbClr val="000000"/>
              </a:solidFill>
              <a:latin typeface="Arial" panose="020B0604020202020204" pitchFamily="34" charset="0"/>
              <a:cs typeface="Arial" panose="020B0604020202020204" pitchFamily="34" charset="0"/>
            </a:endParaRPr>
          </a:p>
          <a:p>
            <a:pPr>
              <a:buClr>
                <a:schemeClr val="tx1"/>
              </a:buClr>
              <a:buFont typeface="Wingdings" panose="05000000000000000000" pitchFamily="2" charset="2"/>
              <a:buChar char="Ø"/>
            </a:pPr>
            <a:r>
              <a:rPr lang="en-US" b="0" i="0" dirty="0">
                <a:solidFill>
                  <a:srgbClr val="000000"/>
                </a:solidFill>
                <a:effectLst/>
                <a:latin typeface="Arial" panose="020B0604020202020204" pitchFamily="34" charset="0"/>
                <a:cs typeface="Arial" panose="020B0604020202020204" pitchFamily="34" charset="0"/>
              </a:rPr>
              <a:t>Interestingly, female auditors tend to provide higher evaluation scores compared to their male counterparts. </a:t>
            </a:r>
            <a:endParaRPr lang="en-US"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68544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0E184-9E37-97DF-70A9-E91660A3429B}"/>
              </a:ext>
            </a:extLst>
          </p:cNvPr>
          <p:cNvSpPr txBox="1"/>
          <p:nvPr/>
        </p:nvSpPr>
        <p:spPr>
          <a:xfrm>
            <a:off x="457200" y="751840"/>
            <a:ext cx="11480800" cy="4801314"/>
          </a:xfrm>
          <a:prstGeom prst="rect">
            <a:avLst/>
          </a:prstGeom>
          <a:noFill/>
        </p:spPr>
        <p:txBody>
          <a:bodyPr wrap="square" rtlCol="0">
            <a:spAutoFit/>
          </a:bodyPr>
          <a:lstStyle/>
          <a:p>
            <a:pPr>
              <a:buClr>
                <a:schemeClr val="tx1"/>
              </a:buClr>
              <a:buFont typeface="Wingdings" panose="05000000000000000000" pitchFamily="2" charset="2"/>
              <a:buChar char="Ø"/>
            </a:pPr>
            <a:r>
              <a:rPr lang="en-US" b="0" i="0" dirty="0">
                <a:solidFill>
                  <a:srgbClr val="000000"/>
                </a:solidFill>
                <a:effectLst/>
                <a:latin typeface="Arial" panose="020B0604020202020204" pitchFamily="34" charset="0"/>
                <a:cs typeface="Arial" panose="020B0604020202020204" pitchFamily="34" charset="0"/>
              </a:rPr>
              <a:t>It's notable that auditors below the age of 40 tend to assign lower evaluation scores, suggesting potential areas for improvement in training or support. </a:t>
            </a:r>
            <a:endParaRPr lang="en-US" dirty="0">
              <a:solidFill>
                <a:srgbClr val="000000"/>
              </a:solidFill>
              <a:latin typeface="Arial" panose="020B0604020202020204" pitchFamily="34" charset="0"/>
              <a:cs typeface="Arial" panose="020B0604020202020204" pitchFamily="34" charset="0"/>
            </a:endParaRPr>
          </a:p>
          <a:p>
            <a:pPr>
              <a:buClr>
                <a:schemeClr val="tx1"/>
              </a:buClr>
              <a:buFont typeface="Wingdings" panose="05000000000000000000" pitchFamily="2" charset="2"/>
              <a:buChar char="Ø"/>
            </a:pPr>
            <a:r>
              <a:rPr lang="en-US" b="0" i="0" dirty="0">
                <a:solidFill>
                  <a:srgbClr val="000000"/>
                </a:solidFill>
                <a:effectLst/>
                <a:latin typeface="Arial" panose="020B0604020202020204" pitchFamily="34" charset="0"/>
                <a:cs typeface="Arial" panose="020B0604020202020204" pitchFamily="34" charset="0"/>
              </a:rPr>
              <a:t>To enhance overall performance, consider implementing targeted training programs and support systems, especially focusing on male auditors and younger team members, to boost their evaluation scores and ensure consistent quality across all demographics.</a:t>
            </a:r>
            <a:endParaRPr lang="en-US" dirty="0">
              <a:solidFill>
                <a:srgbClr val="0D0D0D"/>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b="0" i="0" dirty="0">
                <a:solidFill>
                  <a:srgbClr val="0D0D0D"/>
                </a:solidFill>
                <a:effectLst/>
                <a:latin typeface="Arial" panose="020B0604020202020204" pitchFamily="34" charset="0"/>
                <a:cs typeface="Arial" panose="020B0604020202020204" pitchFamily="34" charset="0"/>
              </a:rPr>
              <a:t>The majority of visits fall within the duration range of 500 to 2500 seconds, indicating that this is the most common timeframe for customer interactions with Style Advisors. </a:t>
            </a:r>
            <a:endParaRPr lang="en-US" dirty="0">
              <a:solidFill>
                <a:srgbClr val="0D0D0D"/>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b="0" i="0" dirty="0">
                <a:solidFill>
                  <a:srgbClr val="0D0D0D"/>
                </a:solidFill>
                <a:effectLst/>
                <a:latin typeface="Arial" panose="020B0604020202020204" pitchFamily="34" charset="0"/>
                <a:cs typeface="Arial" panose="020B0604020202020204" pitchFamily="34" charset="0"/>
              </a:rPr>
              <a:t>While there appears to be a slight positive correlation between the duration of the visit and the evaluation score, the relationship is not significant. This suggests that factors other than the length of the visit may have a greater influence on the overall evaluation score.</a:t>
            </a:r>
          </a:p>
          <a:p>
            <a:pPr marL="285750" indent="-285750">
              <a:buFont typeface="Wingdings" panose="05000000000000000000" pitchFamily="2" charset="2"/>
              <a:buChar char="Ø"/>
            </a:pPr>
            <a:r>
              <a:rPr lang="en-US" b="0" i="0" dirty="0">
                <a:solidFill>
                  <a:srgbClr val="0D0D0D"/>
                </a:solidFill>
                <a:effectLst/>
                <a:latin typeface="Arial" panose="020B0604020202020204" pitchFamily="34" charset="0"/>
                <a:cs typeface="Arial" panose="020B0604020202020204" pitchFamily="34" charset="0"/>
              </a:rPr>
              <a:t>The number of Style Advisors appears to positively correlate with the performance in Trial Experience &amp; Upsell, with a discernible increase in performance as the number of advisors increases. </a:t>
            </a:r>
            <a:endParaRPr lang="en-US" dirty="0">
              <a:solidFill>
                <a:srgbClr val="0D0D0D"/>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b="0" i="0" dirty="0">
                <a:solidFill>
                  <a:srgbClr val="0D0D0D"/>
                </a:solidFill>
                <a:effectLst/>
                <a:latin typeface="Arial" panose="020B0604020202020204" pitchFamily="34" charset="0"/>
                <a:cs typeface="Arial" panose="020B0604020202020204" pitchFamily="34" charset="0"/>
              </a:rPr>
              <a:t>Locations with fewer Style Advisors, such as those with 1 or 2 advisors, exhibit a wider performance range from 0 to 100, suggesting variability in the quality of trial experiences and upselling efforts. </a:t>
            </a:r>
            <a:endParaRPr lang="en-US" dirty="0">
              <a:solidFill>
                <a:srgbClr val="0D0D0D"/>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b="0" i="0" dirty="0">
                <a:solidFill>
                  <a:srgbClr val="0D0D0D"/>
                </a:solidFill>
                <a:effectLst/>
                <a:latin typeface="Arial" panose="020B0604020202020204" pitchFamily="34" charset="0"/>
                <a:cs typeface="Arial" panose="020B0604020202020204" pitchFamily="34" charset="0"/>
              </a:rPr>
              <a:t>Conversely, as the number of Style Advisors increases to 3 or 4, the performance range becomes narrower, indicating a more consistent and potentially higher-quality trial experience and upselling across these locations. </a:t>
            </a:r>
            <a:endParaRPr lang="en-US" dirty="0">
              <a:solidFill>
                <a:srgbClr val="0D0D0D"/>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9201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422CE1-70BB-FF7B-3B85-9DA908CA8666}"/>
              </a:ext>
            </a:extLst>
          </p:cNvPr>
          <p:cNvSpPr txBox="1"/>
          <p:nvPr/>
        </p:nvSpPr>
        <p:spPr>
          <a:xfrm>
            <a:off x="609600" y="1028343"/>
            <a:ext cx="11125200" cy="4801314"/>
          </a:xfrm>
          <a:prstGeom prst="rect">
            <a:avLst/>
          </a:prstGeom>
          <a:noFill/>
        </p:spPr>
        <p:txBody>
          <a:bodyPr wrap="square" rtlCol="0">
            <a:spAutoFit/>
          </a:bodyPr>
          <a:lstStyle/>
          <a:p>
            <a:pPr marL="285750" indent="-285750">
              <a:buFont typeface="Wingdings" panose="05000000000000000000" pitchFamily="2" charset="2"/>
              <a:buChar char="Ø"/>
            </a:pPr>
            <a:r>
              <a:rPr lang="en-US" sz="1800" b="0" i="0" dirty="0">
                <a:solidFill>
                  <a:srgbClr val="0D0D0D"/>
                </a:solidFill>
                <a:effectLst/>
                <a:latin typeface="Arial" panose="020B0604020202020204" pitchFamily="34" charset="0"/>
                <a:cs typeface="Arial" panose="020B0604020202020204" pitchFamily="34" charset="0"/>
              </a:rPr>
              <a:t>To enhance performance in Trial Experience &amp; Upsell, consider optimizing the staffing levels of Style Advisors based on the observed correlation, ensuring adequate coverage to maintain consistent service quality and maximize upselling opportunities.</a:t>
            </a:r>
            <a:endParaRPr lang="en-US" dirty="0">
              <a:solidFill>
                <a:srgbClr val="0D0D0D"/>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b="0" i="0" dirty="0">
                <a:solidFill>
                  <a:srgbClr val="0D0D0D"/>
                </a:solidFill>
                <a:effectLst/>
                <a:latin typeface="Arial" panose="020B0604020202020204" pitchFamily="34" charset="0"/>
                <a:cs typeface="Arial" panose="020B0604020202020204" pitchFamily="34" charset="0"/>
              </a:rPr>
              <a:t>Among the top 10 high performers, there is a notable consistency in delivering exceptional evaluation scores, with median scores around 90 and above. This indicates a strong commitment to providing outstanding service and customer experiences. </a:t>
            </a:r>
            <a:endParaRPr lang="en-US" dirty="0">
              <a:solidFill>
                <a:srgbClr val="0D0D0D"/>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b="0" i="0" dirty="0">
                <a:solidFill>
                  <a:srgbClr val="0D0D0D"/>
                </a:solidFill>
                <a:effectLst/>
                <a:latin typeface="Arial" panose="020B0604020202020204" pitchFamily="34" charset="0"/>
                <a:cs typeface="Arial" panose="020B0604020202020204" pitchFamily="34" charset="0"/>
              </a:rPr>
              <a:t>The bottom 10 performers, however, demonstrate a considerable performance gap compared to the top performers, with median scores around 35. This suggests areas for improvement in delivering satisfactory customer interactions and experiences.</a:t>
            </a:r>
          </a:p>
          <a:p>
            <a:pPr marL="285750" indent="-285750">
              <a:buFont typeface="Wingdings" panose="05000000000000000000" pitchFamily="2" charset="2"/>
              <a:buChar char="Ø"/>
            </a:pPr>
            <a:r>
              <a:rPr lang="en-US" b="0" i="0" dirty="0">
                <a:solidFill>
                  <a:srgbClr val="0D0D0D"/>
                </a:solidFill>
                <a:effectLst/>
                <a:latin typeface="Arial" panose="020B0604020202020204" pitchFamily="34" charset="0"/>
                <a:cs typeface="Arial" panose="020B0604020202020204" pitchFamily="34" charset="0"/>
              </a:rPr>
              <a:t>To maintain the high standards set by the top performers and bridge the performance gap among the bottom performers, targeted training and development programs should be implemented. These programs can focus on areas such as product knowledge, customer engagement, objection handling, and after-sales care to enhance overall performance. </a:t>
            </a:r>
            <a:endParaRPr lang="en-US" dirty="0">
              <a:solidFill>
                <a:srgbClr val="0D0D0D"/>
              </a:solidFill>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b="0" i="0" dirty="0">
                <a:solidFill>
                  <a:srgbClr val="0D0D0D"/>
                </a:solidFill>
                <a:effectLst/>
                <a:latin typeface="Arial" panose="020B0604020202020204" pitchFamily="34" charset="0"/>
                <a:cs typeface="Arial" panose="020B0604020202020204" pitchFamily="34" charset="0"/>
              </a:rPr>
              <a:t>Regular performance reviews and feedback sessions should be conducted with both top and bottom performers to recognize exemplary performance, identify areas for improvement, and provide support and resources necessary for continuous growth and development.</a:t>
            </a:r>
            <a:endParaRPr lang="en-US"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3544669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412F7-5FAB-592A-96BF-96FBEFB1CAC7}"/>
              </a:ext>
            </a:extLst>
          </p:cNvPr>
          <p:cNvSpPr>
            <a:spLocks noGrp="1"/>
          </p:cNvSpPr>
          <p:nvPr>
            <p:ph type="title"/>
          </p:nvPr>
        </p:nvSpPr>
        <p:spPr>
          <a:xfrm>
            <a:off x="677334" y="193040"/>
            <a:ext cx="10132906" cy="812800"/>
          </a:xfrm>
        </p:spPr>
        <p:txBody>
          <a:bodyPr/>
          <a:lstStyle/>
          <a:p>
            <a:pPr algn="ctr"/>
            <a:r>
              <a:rPr lang="en-US" sz="4000" b="1" u="sng" dirty="0">
                <a:solidFill>
                  <a:schemeClr val="tx1"/>
                </a:solidFill>
                <a:latin typeface="Arial" panose="020B0604020202020204" pitchFamily="34" charset="0"/>
                <a:cs typeface="Arial" panose="020B0604020202020204" pitchFamily="34" charset="0"/>
              </a:rPr>
              <a:t>Conclusion</a:t>
            </a:r>
            <a:r>
              <a:rPr lang="en-US" dirty="0"/>
              <a:t> </a:t>
            </a:r>
          </a:p>
        </p:txBody>
      </p:sp>
      <p:sp>
        <p:nvSpPr>
          <p:cNvPr id="3" name="Content Placeholder 2">
            <a:extLst>
              <a:ext uri="{FF2B5EF4-FFF2-40B4-BE49-F238E27FC236}">
                <a16:creationId xmlns:a16="http://schemas.microsoft.com/office/drawing/2014/main" id="{784DB8D9-EED2-F16B-9B28-023332869F81}"/>
              </a:ext>
            </a:extLst>
          </p:cNvPr>
          <p:cNvSpPr>
            <a:spLocks noGrp="1"/>
          </p:cNvSpPr>
          <p:nvPr>
            <p:ph idx="1"/>
          </p:nvPr>
        </p:nvSpPr>
        <p:spPr>
          <a:xfrm>
            <a:off x="284480" y="1209041"/>
            <a:ext cx="11480800" cy="4958080"/>
          </a:xfrm>
        </p:spPr>
        <p:txBody>
          <a:bodyPr>
            <a:normAutofit/>
          </a:bodyPr>
          <a:lstStyle/>
          <a:p>
            <a:pPr marL="0" indent="0">
              <a:buNone/>
            </a:pPr>
            <a:r>
              <a:rPr lang="en-US" sz="2000" b="0" i="0" dirty="0">
                <a:solidFill>
                  <a:srgbClr val="001D35"/>
                </a:solidFill>
                <a:effectLst/>
                <a:latin typeface="Arial" panose="020B0604020202020204" pitchFamily="34" charset="0"/>
                <a:cs typeface="Arial" panose="020B0604020202020204" pitchFamily="34" charset="0"/>
              </a:rPr>
              <a:t>The project performance analysis of Style Advisors indicates a mixed bag of results, with some advisors exceeding expectations while others fall short. The key to improving performance lies in understanding the contributing factors and implementing targeted interventions. This includes assessing the current processes, leadership styles, and the use of appropriate tools and technologies, as well as focusing on individual development and team dynamics.</a:t>
            </a:r>
          </a:p>
          <a:p>
            <a:pPr marL="0" indent="0">
              <a:buNone/>
            </a:pPr>
            <a:r>
              <a:rPr lang="en-US" sz="2000" b="0" i="0" dirty="0">
                <a:solidFill>
                  <a:srgbClr val="001D35"/>
                </a:solidFill>
                <a:effectLst/>
                <a:latin typeface="Arial" panose="020B0604020202020204" pitchFamily="34" charset="0"/>
                <a:cs typeface="Arial" panose="020B0604020202020204" pitchFamily="34" charset="0"/>
              </a:rPr>
              <a:t>In conclusion, the Style Advisor Performance Evaluation project successfully assessed the effectiveness of the style advice provided. The project identified key areas of strength in the advisor's performance, such as their ability to understand client preferences and offer relevant recommendations. Areas for improvement were also highlighted, including refining the communication style and providing more tailored advice for specific situations. By analyzing both the strengths and weaknesses, the evaluation provides valuable insights for future training and development of the style advisor, ultimately leading to improved client satisfaction and business outcomes. </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7065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79BB42-815E-1CB9-D3C9-5E9C6D57035A}"/>
              </a:ext>
            </a:extLst>
          </p:cNvPr>
          <p:cNvSpPr txBox="1"/>
          <p:nvPr/>
        </p:nvSpPr>
        <p:spPr>
          <a:xfrm>
            <a:off x="386080" y="335280"/>
            <a:ext cx="11490960" cy="5293757"/>
          </a:xfrm>
          <a:prstGeom prst="rect">
            <a:avLst/>
          </a:prstGeom>
          <a:noFill/>
        </p:spPr>
        <p:txBody>
          <a:bodyPr wrap="square" rtlCol="0">
            <a:spAutoFit/>
          </a:bodyPr>
          <a:lstStyle/>
          <a:p>
            <a:pPr algn="l" fontAlgn="ctr"/>
            <a:r>
              <a:rPr lang="en-US" sz="2000" b="0" i="0" dirty="0">
                <a:solidFill>
                  <a:srgbClr val="001D35"/>
                </a:solidFill>
                <a:effectLst/>
                <a:latin typeface="Arial" panose="020B0604020202020204" pitchFamily="34" charset="0"/>
                <a:cs typeface="Arial" panose="020B0604020202020204" pitchFamily="34" charset="0"/>
              </a:rPr>
              <a:t>Here's a more detailed breakdown of the conclusion: </a:t>
            </a:r>
            <a:endParaRPr lang="en-US" sz="2000" b="0" i="0" dirty="0">
              <a:solidFill>
                <a:srgbClr val="0B57D0"/>
              </a:solidFill>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US" sz="2000" b="1" i="0" dirty="0">
                <a:solidFill>
                  <a:srgbClr val="001D35"/>
                </a:solidFill>
                <a:effectLst/>
                <a:latin typeface="Arial" panose="020B0604020202020204" pitchFamily="34" charset="0"/>
                <a:cs typeface="Arial" panose="020B0604020202020204" pitchFamily="34" charset="0"/>
              </a:rPr>
              <a:t>Overall Performance:</a:t>
            </a:r>
            <a:endParaRPr lang="en-US" sz="2000" b="0" i="0" dirty="0">
              <a:solidFill>
                <a:srgbClr val="001D35"/>
              </a:solidFill>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US" sz="2000" b="0" i="0" dirty="0">
                <a:solidFill>
                  <a:srgbClr val="545D7E"/>
                </a:solidFill>
                <a:effectLst/>
                <a:latin typeface="Arial" panose="020B0604020202020204" pitchFamily="34" charset="0"/>
                <a:cs typeface="Arial" panose="020B0604020202020204" pitchFamily="34" charset="0"/>
              </a:rPr>
              <a:t>The project demonstrated that the Style Advisor is generally effective in providing style advice, with a positive impact on client satisfaction.</a:t>
            </a:r>
          </a:p>
          <a:p>
            <a:pPr algn="l">
              <a:buFont typeface="Arial" panose="020B0604020202020204" pitchFamily="34" charset="0"/>
              <a:buChar char="•"/>
            </a:pPr>
            <a:r>
              <a:rPr lang="en-US" sz="2000" b="1" i="0" dirty="0">
                <a:solidFill>
                  <a:srgbClr val="001D35"/>
                </a:solidFill>
                <a:effectLst/>
                <a:latin typeface="Arial" panose="020B0604020202020204" pitchFamily="34" charset="0"/>
                <a:cs typeface="Arial" panose="020B0604020202020204" pitchFamily="34" charset="0"/>
              </a:rPr>
              <a:t>Strengths:</a:t>
            </a:r>
            <a:endParaRPr lang="en-US" sz="2000" b="0" i="0" dirty="0">
              <a:solidFill>
                <a:srgbClr val="001D35"/>
              </a:solidFill>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US" sz="2000" b="0" i="0" dirty="0">
                <a:solidFill>
                  <a:srgbClr val="545D7E"/>
                </a:solidFill>
                <a:effectLst/>
                <a:latin typeface="Arial" panose="020B0604020202020204" pitchFamily="34" charset="0"/>
                <a:cs typeface="Arial" panose="020B0604020202020204" pitchFamily="34" charset="0"/>
              </a:rPr>
              <a:t>The evaluation highlighted the advisor's strengths in understanding client preferences, offering relevant recommendations, and providing a positive client experience.</a:t>
            </a:r>
          </a:p>
          <a:p>
            <a:pPr algn="l">
              <a:buFont typeface="Arial" panose="020B0604020202020204" pitchFamily="34" charset="0"/>
              <a:buChar char="•"/>
            </a:pPr>
            <a:r>
              <a:rPr lang="en-US" sz="2000" b="1" i="0" dirty="0">
                <a:solidFill>
                  <a:srgbClr val="001D35"/>
                </a:solidFill>
                <a:effectLst/>
                <a:latin typeface="Arial" panose="020B0604020202020204" pitchFamily="34" charset="0"/>
                <a:cs typeface="Arial" panose="020B0604020202020204" pitchFamily="34" charset="0"/>
              </a:rPr>
              <a:t>Areas for Improvement:</a:t>
            </a:r>
            <a:endParaRPr lang="en-US" sz="2000" b="0" i="0" dirty="0">
              <a:solidFill>
                <a:srgbClr val="001D35"/>
              </a:solidFill>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US" sz="2000" b="0" i="0" dirty="0">
                <a:solidFill>
                  <a:srgbClr val="545D7E"/>
                </a:solidFill>
                <a:effectLst/>
                <a:latin typeface="Arial" panose="020B0604020202020204" pitchFamily="34" charset="0"/>
                <a:cs typeface="Arial" panose="020B0604020202020204" pitchFamily="34" charset="0"/>
              </a:rPr>
              <a:t>The evaluation also identified areas where the advisor could improve, such as refining their communication style and tailoring advice more specifically to individual client needs and situations.</a:t>
            </a:r>
          </a:p>
          <a:p>
            <a:pPr algn="l">
              <a:buFont typeface="Arial" panose="020B0604020202020204" pitchFamily="34" charset="0"/>
              <a:buChar char="•"/>
            </a:pPr>
            <a:r>
              <a:rPr lang="en-US" sz="2000" b="1" i="0" dirty="0">
                <a:solidFill>
                  <a:srgbClr val="001D35"/>
                </a:solidFill>
                <a:effectLst/>
                <a:latin typeface="Arial" panose="020B0604020202020204" pitchFamily="34" charset="0"/>
                <a:cs typeface="Arial" panose="020B0604020202020204" pitchFamily="34" charset="0"/>
              </a:rPr>
              <a:t>Future Recommendations:</a:t>
            </a:r>
            <a:endParaRPr lang="en-US" sz="2000" b="0" i="0" dirty="0">
              <a:solidFill>
                <a:srgbClr val="001D35"/>
              </a:solidFill>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US" sz="2000" b="0" i="0" dirty="0">
                <a:solidFill>
                  <a:srgbClr val="545D7E"/>
                </a:solidFill>
                <a:effectLst/>
                <a:latin typeface="Arial" panose="020B0604020202020204" pitchFamily="34" charset="0"/>
                <a:cs typeface="Arial" panose="020B0604020202020204" pitchFamily="34" charset="0"/>
              </a:rPr>
              <a:t>The evaluation results will be used to inform future training and development initiatives for the Style Advisor, with the goal of enhancing their skills and improving the overall quality of service.</a:t>
            </a:r>
          </a:p>
          <a:p>
            <a:pPr algn="l">
              <a:buFont typeface="Arial" panose="020B0604020202020204" pitchFamily="34" charset="0"/>
              <a:buChar char="•"/>
            </a:pPr>
            <a:r>
              <a:rPr lang="en-US" sz="2000" b="1" i="0" dirty="0">
                <a:solidFill>
                  <a:srgbClr val="001D35"/>
                </a:solidFill>
                <a:effectLst/>
                <a:latin typeface="Arial" panose="020B0604020202020204" pitchFamily="34" charset="0"/>
                <a:cs typeface="Arial" panose="020B0604020202020204" pitchFamily="34" charset="0"/>
              </a:rPr>
              <a:t>Impact:</a:t>
            </a:r>
            <a:endParaRPr lang="en-US" sz="2000" b="0" i="0" dirty="0">
              <a:solidFill>
                <a:srgbClr val="001D35"/>
              </a:solidFill>
              <a:effectLst/>
              <a:latin typeface="Arial" panose="020B0604020202020204" pitchFamily="34" charset="0"/>
              <a:cs typeface="Arial" panose="020B0604020202020204" pitchFamily="34" charset="0"/>
            </a:endParaRPr>
          </a:p>
          <a:p>
            <a:pPr algn="l">
              <a:buFont typeface="Arial" panose="020B0604020202020204" pitchFamily="34" charset="0"/>
              <a:buChar char="•"/>
            </a:pPr>
            <a:r>
              <a:rPr lang="en-US" sz="2000" b="0" i="0" dirty="0">
                <a:solidFill>
                  <a:srgbClr val="545D7E"/>
                </a:solidFill>
                <a:effectLst/>
                <a:latin typeface="Arial" panose="020B0604020202020204" pitchFamily="34" charset="0"/>
                <a:cs typeface="Arial" panose="020B0604020202020204" pitchFamily="34" charset="0"/>
              </a:rPr>
              <a:t>By addressing the identified areas for improvement, the Style Advisor can further enhance their performance, leading to increased client satisfaction and positive business outcomes.</a:t>
            </a:r>
          </a:p>
          <a:p>
            <a:endParaRPr lang="en-US" dirty="0"/>
          </a:p>
        </p:txBody>
      </p:sp>
    </p:spTree>
    <p:extLst>
      <p:ext uri="{BB962C8B-B14F-4D97-AF65-F5344CB8AC3E}">
        <p14:creationId xmlns:p14="http://schemas.microsoft.com/office/powerpoint/2010/main" val="39479746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4F13A7A-A78C-685E-72D4-5E1E315F41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98880"/>
            <a:ext cx="12466320" cy="8056880"/>
          </a:xfrm>
          <a:prstGeom prst="rect">
            <a:avLst/>
          </a:prstGeom>
        </p:spPr>
      </p:pic>
    </p:spTree>
    <p:extLst>
      <p:ext uri="{BB962C8B-B14F-4D97-AF65-F5344CB8AC3E}">
        <p14:creationId xmlns:p14="http://schemas.microsoft.com/office/powerpoint/2010/main" val="153258887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3803</TotalTime>
  <Words>2256</Words>
  <Application>Microsoft Office PowerPoint</Application>
  <PresentationFormat>Widescreen</PresentationFormat>
  <Paragraphs>157</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Google Sans</vt:lpstr>
      <vt:lpstr>Trebuchet MS</vt:lpstr>
      <vt:lpstr>Wingdings</vt:lpstr>
      <vt:lpstr>Wingdings 3</vt:lpstr>
      <vt:lpstr>Facet</vt:lpstr>
      <vt:lpstr>Bare International Analysis</vt:lpstr>
      <vt:lpstr>Evaluation of Style Advisor Performance</vt:lpstr>
      <vt:lpstr>PowerPoint Presentation</vt:lpstr>
      <vt:lpstr>PowerPoint Presentation</vt:lpstr>
      <vt:lpstr>PowerPoint Presentation</vt:lpstr>
      <vt:lpstr>Introduction &amp; Objectives </vt:lpstr>
      <vt:lpstr>PowerPoint Presentation</vt:lpstr>
      <vt:lpstr>Data Overview </vt:lpstr>
      <vt:lpstr>Performance Grading </vt:lpstr>
      <vt:lpstr>Pivot Table Analysis </vt:lpstr>
      <vt:lpstr>High Performer Analysis </vt:lpstr>
      <vt:lpstr>Visualizations</vt:lpstr>
      <vt:lpstr>Visualizations</vt:lpstr>
      <vt:lpstr>Visualizations</vt:lpstr>
      <vt:lpstr>Key Insights </vt:lpstr>
      <vt:lpstr>Recommendations </vt:lpstr>
      <vt:lpstr>PowerPoint Presentation</vt:lpstr>
      <vt:lpstr>PowerPoint Presentation</vt:lpstr>
      <vt:lpstr>Conclusion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Bare International Analysis</dc:title>
  <dc:creator>pc</dc:creator>
  <cp:lastModifiedBy>pc</cp:lastModifiedBy>
  <cp:revision>25</cp:revision>
  <dcterms:created xsi:type="dcterms:W3CDTF">2025-08-03T15:43:55Z</dcterms:created>
  <dcterms:modified xsi:type="dcterms:W3CDTF">2025-08-06T07:07:49Z</dcterms:modified>
</cp:coreProperties>
</file>